
<file path=[Content_Types].xml><?xml version="1.0" encoding="utf-8"?>
<Types xmlns="http://schemas.openxmlformats.org/package/2006/content-types">
  <Default ContentType="application/vnd.openxmlformats-package.relationships+xml" Extension="rels"/>
  <Default ContentType="application/xml" Extension="xml"/>
  <Default ContentType="image/png" Extension="png"/>
  <Default ContentType="image/jpeg" Extension="jpeg"/>
  <Default ContentType="image/jpeg" Extension="jpg"/>
  <Default ContentType="image/gif" Extension="gif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theme+xml" PartName="/ppt/theme/theme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presentationml.tableStyles+xml" PartName="/ppt/tableStyles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F443E66-4837-4FE6-B4A9-6B8E337D1C8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Subtitle 3"/>
          <p:cNvSpPr>
            <a:spLocks noGrp="1"/>
          </p:cNvSpPr>
          <p:nvPr>
            <p:ph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48387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Content Placeholder 4"/>
          <p:cNvSpPr>
            <a:spLocks noGrp="1"/>
          </p:cNvSpPr>
          <p:nvPr>
            <p:ph type="body" idx="2"/>
          </p:nvPr>
        </p:nvSpPr>
        <p:spPr>
          <a:xfrm>
            <a:off x="6515100" y="1825625"/>
            <a:ext cx="48387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/>
          <p:cNvSpPr>
            <a:spLocks noGrp="1"/>
          </p:cNvSpPr>
          <p:nvPr>
            <p:ph type="body" idx="1"/>
          </p:nvPr>
        </p:nvSpPr>
        <p:spPr>
          <a:xfrm>
            <a:off x="838200" y="2174875"/>
            <a:ext cx="4838700" cy="1143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Content Placeholder 4"/>
          <p:cNvSpPr>
            <a:spLocks noGrp="1"/>
          </p:cNvSpPr>
          <p:nvPr>
            <p:ph type="body" idx="2"/>
          </p:nvPr>
        </p:nvSpPr>
        <p:spPr>
          <a:xfrm>
            <a:off x="838200" y="3317875"/>
            <a:ext cx="4838700" cy="28587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ontent Placeholder 5"/>
          <p:cNvSpPr>
            <a:spLocks noGrp="1"/>
          </p:cNvSpPr>
          <p:nvPr>
            <p:ph type="body" idx="3"/>
          </p:nvPr>
        </p:nvSpPr>
        <p:spPr>
          <a:xfrm>
            <a:off x="6515100" y="2174875"/>
            <a:ext cx="4838700" cy="1143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6"/>
          <p:cNvSpPr>
            <a:spLocks noGrp="1"/>
          </p:cNvSpPr>
          <p:nvPr>
            <p:ph type="body" idx="4"/>
          </p:nvPr>
        </p:nvSpPr>
        <p:spPr>
          <a:xfrm>
            <a:off x="6515100" y="3317875"/>
            <a:ext cx="4838700" cy="28587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Content Placeholder 4"/>
          <p:cNvSpPr>
            <a:spLocks noGrp="1"/>
          </p:cNvSpPr>
          <p:nvPr>
            <p:ph type="body" idx="2"/>
          </p:nvPr>
        </p:nvSpPr>
        <p:spPr>
          <a:xfrm>
            <a:off x="4800600" y="1825625"/>
            <a:ext cx="65532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itleAnd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9pPr>
    </p:titleStyle>
    <p:bodyStyle>
      <a:lvl1pPr marL="457200" indent="-228600" algn="l" defTabSz="914400" rtl="0" eaLnBrk="1" latinLnBrk="0" hangingPunct="1">
        <a:lnSpc>
          <a:spcPct val="110000"/>
        </a:lnSpc>
        <a:spcBef>
          <a:spcPts val="400"/>
        </a:spcBef>
        <a:spcAft>
          <a:spcPts val="0"/>
        </a:spcAft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228600" algn="l" defTabSz="914400" rtl="0" eaLnBrk="1" latinLnBrk="0" hangingPunct="1">
        <a:lnSpc>
          <a:spcPct val="110000"/>
        </a:lnSpc>
        <a:spcBef>
          <a:spcPts val="400"/>
        </a:spcBef>
        <a:spcAft>
          <a:spcPts val="0"/>
        </a:spcAft>
        <a:buFont typeface="Arial" panose="020B0604020202020204" pitchFamily="34" charset="0"/>
        <a:buChar char="–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228600" algn="l" defTabSz="914400" rtl="0" eaLnBrk="1" latinLnBrk="0" hangingPunct="1">
        <a:lnSpc>
          <a:spcPct val="110000"/>
        </a:lnSpc>
        <a:spcBef>
          <a:spcPts val="400"/>
        </a:spcBef>
        <a:spcAft>
          <a:spcPts val="0"/>
        </a:spcAft>
        <a:buFont typeface="Arial" panose="020B0604020202020204" pitchFamily="34" charset="0"/>
        <a:buChar char="–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228600" algn="l" defTabSz="914400" rtl="0" eaLnBrk="1" latinLnBrk="0" hangingPunct="1">
        <a:lnSpc>
          <a:spcPct val="110000"/>
        </a:lnSpc>
        <a:spcBef>
          <a:spcPts val="400"/>
        </a:spcBef>
        <a:spcAft>
          <a:spcPts val="0"/>
        </a:spcAft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228600" algn="l" defTabSz="914400" rtl="0" eaLnBrk="1" latinLnBrk="0" hangingPunct="1">
        <a:lnSpc>
          <a:spcPct val="110000"/>
        </a:lnSpc>
        <a:spcBef>
          <a:spcPts val="400"/>
        </a:spcBef>
        <a:spcAft>
          <a:spcPts val="0"/>
        </a:spcAft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228600" algn="l" defTabSz="914400" rtl="0" eaLnBrk="1" latinLnBrk="0" hangingPunct="1">
        <a:lnSpc>
          <a:spcPct val="110000"/>
        </a:lnSpc>
        <a:spcBef>
          <a:spcPts val="400"/>
        </a:spcBef>
        <a:spcAft>
          <a:spcPts val="0"/>
        </a:spcAft>
        <a:buFont typeface="Arial" panose="020B060402020202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228600" algn="l" defTabSz="914400" rtl="0" eaLnBrk="1" latinLnBrk="0" hangingPunct="1">
        <a:lnSpc>
          <a:spcPct val="110000"/>
        </a:lnSpc>
        <a:spcBef>
          <a:spcPts val="400"/>
        </a:spcBef>
        <a:spcAft>
          <a:spcPts val="0"/>
        </a:spcAft>
        <a:buFont typeface="Arial" panose="020B060402020202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228600" algn="l" defTabSz="914400" rtl="0" eaLnBrk="1" latinLnBrk="0" hangingPunct="1">
        <a:lnSpc>
          <a:spcPct val="110000"/>
        </a:lnSpc>
        <a:spcBef>
          <a:spcPts val="400"/>
        </a:spcBef>
        <a:spcAft>
          <a:spcPts val="0"/>
        </a:spcAft>
        <a:buFont typeface="Arial" panose="020B0604020202020204" pitchFamily="34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228600" algn="l" defTabSz="914400" rtl="0" eaLnBrk="1" latinLnBrk="0" hangingPunct="1">
        <a:lnSpc>
          <a:spcPct val="110000"/>
        </a:lnSpc>
        <a:spcBef>
          <a:spcPts val="400"/>
        </a:spcBef>
        <a:spcAft>
          <a:spcPts val="0"/>
        </a:spcAft>
        <a:buFont typeface="Arial" panose="020B0604020202020204" pitchFamily="34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/>
              <a:t>Jake Paul: Rise to Fame</a:t>
            </a:r>
          </a:p>
        </p:txBody>
      </p:sp>
      <p:sp>
        <p:nvSpPr>
          <p:cNvPr id="3" name="Subtitle Shape"/>
          <p:cNvSpPr>
            <a:spLocks noGrp="1"/>
          </p:cNvSpPr>
          <p:nvPr>
            <p:ph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Who Is Jake Paul?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342900" indent="-342900"/>
            <a:r>
              <a:rPr lang="en-US"/>
              <a:t>Born: January 17, 1997 in Cleveland, Ohio</a:t>
            </a:r>
          </a:p>
          <a:p>
            <a:pPr marL="342900" indent="-342900"/>
            <a:r>
              <a:rPr lang="en-US"/>
              <a:t>Younger brother of fellow internet personality Logan Paul</a:t>
            </a:r>
          </a:p>
          <a:p>
            <a:pPr marL="342900" indent="-342900"/>
            <a:r>
              <a:rPr lang="en-US"/>
              <a:t>Started creating content as a teenager on Vine</a:t>
            </a:r>
          </a:p>
          <a:p>
            <a:pPr marL="342900" indent="-342900"/>
            <a:r>
              <a:rPr lang="en-US"/>
              <a:t>Known for high-energy, controversial, and viral content</a:t>
            </a:r>
          </a:p>
          <a:p>
            <a:pPr marL="342900" indent="-342900"/>
            <a:r>
              <a:rPr lang="en-US"/>
              <a:t>Transitioned from social media star to professional boxer and entrepreneur</a:t>
            </a:r>
          </a:p>
          <a:p>
            <a:pPr marL="342900" indent="-342900"/>
            <a:r>
              <a:rPr lang="en-US"/>
              <a:t>Net worth estimated at $30+ million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The Vine &amp; Early YouTube Era (2013–2015)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342900" indent="-342900"/>
            <a:r>
              <a:rPr lang="en-US"/>
              <a:t>Gained early traction on Vine with short comedic skits</a:t>
            </a:r>
          </a:p>
          <a:p>
            <a:pPr marL="342900" indent="-342900"/>
            <a:r>
              <a:rPr lang="en-US"/>
              <a:t>Amassed millions of followers before Vine shut down in 2017</a:t>
            </a:r>
          </a:p>
          <a:p>
            <a:pPr marL="342900" indent="-342900"/>
            <a:r>
              <a:rPr lang="en-US"/>
              <a:t>Launched his YouTube channel in 2013</a:t>
            </a:r>
          </a:p>
          <a:p>
            <a:pPr marL="342900" indent="-342900"/>
            <a:r>
              <a:rPr lang="en-US"/>
              <a:t>Built an audience through pranks, vlogs, and challenge videos</a:t>
            </a:r>
          </a:p>
          <a:p>
            <a:pPr marL="342900" indent="-342900"/>
            <a:r>
              <a:rPr lang="en-US"/>
              <a:t>Developed a signature loud, energetic on-camera persona</a:t>
            </a:r>
          </a:p>
          <a:p>
            <a:pPr marL="342900" indent="-342900"/>
            <a:r>
              <a:rPr lang="en-US"/>
              <a:t>Quickly became one of the fastest-growing creators on the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Disney &amp; Mainstream Breakthrough (2016–2017)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342900" indent="-342900"/>
            <a:r>
              <a:rPr lang="en-US"/>
              <a:t>Cast as Dirk Mann on Disney Channel\u0027s </a:t>
            </a:r>
            <a:r>
              <a:rPr lang="en-US" i="1"/>
              <a:t>Bizaardvark</a:t>
            </a:r>
            <a:r>
              <a:rPr lang="en-US"/>
              <a:t> in 2016</a:t>
            </a:r>
          </a:p>
          <a:p>
            <a:pPr marL="342900" indent="-342900"/>
            <a:r>
              <a:rPr lang="en-US"/>
              <a:t>First major mainstream media exposure to a global audience</a:t>
            </a:r>
          </a:p>
          <a:p>
            <a:pPr marL="342900" indent="-342900"/>
            <a:r>
              <a:rPr lang="en-US"/>
              <a:t>Disney role legitimized his brand beyond social media</a:t>
            </a:r>
          </a:p>
          <a:p>
            <a:pPr marL="342900" indent="-342900"/>
            <a:r>
              <a:rPr lang="en-US"/>
              <a:t>Left the show in 2017 amid controversies</a:t>
            </a:r>
          </a:p>
          <a:p>
            <a:pPr marL="342900" indent="-342900"/>
            <a:r>
              <a:rPr lang="en-US"/>
              <a:t>YouTube channel surpassed </a:t>
            </a:r>
            <a:r>
              <a:rPr lang="en-US" b="1"/>
              <a:t>10 million subscribers</a:t>
            </a:r>
            <a:r>
              <a:rPr lang="en-US"/>
              <a:t> during this period</a:t>
            </a:r>
          </a:p>
          <a:p>
            <a:pPr marL="342900" indent="-342900"/>
            <a:r>
              <a:rPr lang="en-US"/>
              <a:t>Launched \u0027Team 10,\u0027 a creator collective and social media house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Team 10 &amp; The Social Media House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342900" indent="-342900"/>
            <a:r>
              <a:rPr lang="en-US"/>
              <a:t>Founded Team 10 in 2016 — a talent management and content collective</a:t>
            </a:r>
          </a:p>
          <a:p>
            <a:pPr marL="342900" indent="-342900"/>
            <a:r>
              <a:rPr lang="en-US"/>
              <a:t>Assembled a rotating roster of young influencers living together in LA</a:t>
            </a:r>
          </a:p>
          <a:p>
            <a:pPr marL="342900" indent="-342900"/>
            <a:r>
              <a:rPr lang="en-US"/>
              <a:t>Daily vlogging format drove massive engagement and subscriber growth</a:t>
            </a:r>
          </a:p>
          <a:p>
            <a:pPr marL="342900" indent="-342900"/>
            <a:r>
              <a:rPr lang="en-US"/>
              <a:t>Pioneered the \u0027content house\u0027 model later replicated by Hype House and others</a:t>
            </a:r>
          </a:p>
          <a:p>
            <a:pPr marL="342900" indent="-342900"/>
            <a:r>
              <a:rPr lang="en-US"/>
              <a:t>Released the viral song </a:t>
            </a:r>
            <a:r>
              <a:rPr lang="en-US" i="1"/>
              <a:t>\u0027It\u0027s Everyday Bro\u0027</a:t>
            </a:r>
            <a:r>
              <a:rPr lang="en-US"/>
              <a:t> (2017) — peaked at #88 on Billboard Hot 100</a:t>
            </a:r>
          </a:p>
          <a:p>
            <a:pPr marL="342900" indent="-342900"/>
            <a:r>
              <a:rPr lang="en-US"/>
              <a:t>The song became both a cultural hit and a widely mocked meme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Cultural Impact &amp; Influence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342900" indent="-342900"/>
            <a:r>
              <a:rPr lang="en-US"/>
              <a:t>Helped define the \u0027influencer house\u0027 genre of content creation</a:t>
            </a:r>
          </a:p>
          <a:p>
            <a:pPr marL="342900" indent="-342900"/>
            <a:r>
              <a:rPr lang="en-US"/>
              <a:t>Demonstrated that YouTube fame could translate into music, acting, and boxing</a:t>
            </a:r>
          </a:p>
          <a:p>
            <a:pPr marL="342900" indent="-342900"/>
            <a:r>
              <a:rPr lang="en-US"/>
              <a:t>Amassed over </a:t>
            </a:r>
            <a:r>
              <a:rPr lang="en-US" b="1"/>
              <a:t>20 million YouTube subscribers</a:t>
            </a:r>
            <a:r>
              <a:rPr lang="en-US"/>
              <a:t> at his peak</a:t>
            </a:r>
          </a:p>
          <a:p>
            <a:pPr marL="342900" indent="-342900"/>
            <a:r>
              <a:rPr lang="en-US"/>
              <a:t>Influenced an entire generation of Gen Z content creators</a:t>
            </a:r>
          </a:p>
          <a:p>
            <a:pPr marL="342900" indent="-342900"/>
            <a:r>
              <a:rPr lang="en-US"/>
              <a:t>Showed brands the power of creator-led merchandise</a:t>
            </a:r>
          </a:p>
          <a:p>
            <a:pPr marL="342900" indent="-342900"/>
            <a:r>
              <a:rPr lang="en-US"/>
              <a:t>Proved that controversy itself can be a growth strategy on social media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/>
              <a:t>Controversies</a:t>
            </a:r>
          </a:p>
        </p:txBody>
      </p:sp>
      <p:sp>
        <p:nvSpPr>
          <p:cNvPr id="3" name="Subtitle Shape"/>
          <p:cNvSpPr>
            <a:spLocks noGrp="1"/>
          </p:cNvSpPr>
          <p:nvPr>
            <p:ph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Controversies: Early Incidents (2017–2018)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342900" indent="-342900"/>
            <a:r>
              <a:rPr lang="en-US" b="1"/>
              <a:t>Neighbors\u0027 complaints (2017):</a:t>
            </a:r>
            <a:r>
              <a:rPr lang="en-US"/>
              <a:t> Loud parties and dangerous stunts at his Beverly Hills home led to police involvement</a:t>
            </a:r>
          </a:p>
          <a:p>
            <a:pPr marL="342900" indent="-342900"/>
            <a:r>
              <a:rPr lang="en-US" b="1"/>
              <a:t>Looting allegations (2017):</a:t>
            </a:r>
            <a:r>
              <a:rPr lang="en-US"/>
              <a:t> Filmed near a mall being looted; faced major backlash</a:t>
            </a:r>
          </a:p>
          <a:p>
            <a:pPr marL="342900" indent="-342900"/>
            <a:r>
              <a:rPr lang="en-US" b="1"/>
              <a:t>Fire stunt:</a:t>
            </a:r>
            <a:r>
              <a:rPr lang="en-US"/>
              <a:t> Set a furniture-filled pool ablaze in his backyard, drawing fire department response</a:t>
            </a:r>
          </a:p>
          <a:p>
            <a:pPr marL="342900" indent="-342900"/>
            <a:r>
              <a:rPr lang="en-US" b="1"/>
              <a:t>Team 10 fallout:</a:t>
            </a:r>
            <a:r>
              <a:rPr lang="en-US"/>
              <a:t> Multiple members publicly accused him of toxic behavior, bullying, and exploitation</a:t>
            </a:r>
          </a:p>
          <a:p>
            <a:pPr marL="342900" indent="-342900"/>
            <a:r>
              <a:rPr lang="en-US" b="1"/>
              <a:t>Alissa Violet dispute:</a:t>
            </a:r>
            <a:r>
              <a:rPr lang="en-US"/>
              <a:t> Breakup and public feud played out messily online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Controversies: Relationships &amp; Allegations (2019–2021)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342900" indent="-342900"/>
            <a:r>
              <a:rPr lang="en-US"/>
              <a:t>Public relationships with Julia Rose and Tana Mongeau used for content and clout</a:t>
            </a:r>
          </a:p>
          <a:p>
            <a:pPr marL="342900" indent="-342900"/>
            <a:r>
              <a:rPr lang="en-US"/>
              <a:t>Married Tana Mongeau in 2019 — widely viewed as a staged PR stunt for pay-per-view profit</a:t>
            </a:r>
          </a:p>
          <a:p>
            <a:pPr marL="342900" indent="-342900"/>
            <a:r>
              <a:rPr lang="en-US" b="1"/>
              <a:t>Sexual assault allegations (2020):</a:t>
            </a:r>
            <a:r>
              <a:rPr lang="en-US"/>
              <a:t> Multiple women accused him of misconduct; he denied all allegations</a:t>
            </a:r>
          </a:p>
          <a:p>
            <a:pPr marL="342900" indent="-342900"/>
            <a:r>
              <a:rPr lang="en-US" b="1"/>
              <a:t>FBI raid (Aug 2020):</a:t>
            </a:r>
            <a:r>
              <a:rPr lang="en-US"/>
              <a:t> His Calabasas home raided, connected to Scottsdale looting investigation</a:t>
            </a:r>
          </a:p>
          <a:p>
            <a:pPr marL="342900" indent="-342900"/>
            <a:r>
              <a:rPr lang="en-US"/>
              <a:t>No charges were filed against Jake specifically</a:t>
            </a:r>
          </a:p>
          <a:p>
            <a:pPr marL="342900" indent="-342900"/>
            <a:r>
              <a:rPr lang="en-US"/>
              <a:t>Faced intense media and public scrutiny over his handling of the allegations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The Boxing Chapter (2020–Present)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342900" indent="-342900"/>
            <a:r>
              <a:rPr lang="en-US"/>
              <a:t>Pivoted to professional boxing as a legitimate career move</a:t>
            </a:r>
          </a:p>
          <a:p>
            <a:pPr marL="342900" indent="-342900"/>
            <a:r>
              <a:rPr lang="en-US" b="1"/>
              <a:t>Record:</a:t>
            </a:r>
            <a:r>
              <a:rPr lang="en-US"/>
              <a:t> 7 wins, 2 losses (as of 2025)</a:t>
            </a:r>
          </a:p>
          <a:p>
            <a:pPr marL="342900" indent="-342900"/>
            <a:r>
              <a:rPr lang="en-US"/>
              <a:t>Notable opponents: AnEsonGib, Nate Robinson, Ben Askren, Tyron Woodley (x2), Anderson Silva, Ryan Bourland</a:t>
            </a:r>
          </a:p>
          <a:p>
            <a:pPr marL="342900" indent="-342900"/>
            <a:r>
              <a:rPr lang="en-US" b="1"/>
              <a:t>Mike Tyson (Nov 2024):</a:t>
            </a:r>
            <a:r>
              <a:rPr lang="en-US"/>
              <a:t> Unanimous decision win — most-watched boxing event in Netflix history</a:t>
            </a:r>
          </a:p>
          <a:p>
            <a:pPr marL="342900" indent="-342900"/>
            <a:r>
              <a:rPr lang="en-US"/>
              <a:t>Lost to Tommy Fury (Feb 2023) and Mike Perry (Jul 2024)</a:t>
            </a:r>
          </a:p>
          <a:p>
            <a:pPr marL="342900" indent="-342900"/>
            <a:r>
              <a:rPr lang="en-US"/>
              <a:t>Co-founded </a:t>
            </a:r>
            <a:r>
              <a:rPr lang="en-US" b="1"/>
              <a:t>Most Valuable Promotions (MVP)</a:t>
            </a:r>
            <a:r>
              <a:rPr lang="en-US"/>
              <a:t> boxing promotion company</a:t>
            </a:r>
          </a:p>
          <a:p>
            <a:pPr marL="342900" indent="-342900"/>
            <a:r>
              <a:rPr lang="en-US"/>
              <a:t>Helped legitimize celebrity boxing as a mainstream sport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Business Ventures &amp; Entrepreneurship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342900" indent="-342900"/>
            <a:r>
              <a:rPr lang="en-US" b="1"/>
              <a:t>W Merchandise:</a:t>
            </a:r>
            <a:r>
              <a:rPr lang="en-US"/>
              <a:t> Clothing brand generating millions in revenue</a:t>
            </a:r>
          </a:p>
          <a:p>
            <a:pPr marL="342900" indent="-342900"/>
            <a:r>
              <a:rPr lang="en-US" b="1"/>
              <a:t>Most Valuable Promotions:</a:t>
            </a:r>
            <a:r>
              <a:rPr lang="en-US"/>
              <a:t> Boxing promotion company co-founded with Nakisa Bidarian</a:t>
            </a:r>
          </a:p>
          <a:p>
            <a:pPr marL="342900" indent="-342900"/>
            <a:r>
              <a:rPr lang="en-US" b="1"/>
              <a:t>Anti Fund:</a:t>
            </a:r>
            <a:r>
              <a:rPr lang="en-US"/>
              <a:t> Early-stage venture capital fund investing in startups</a:t>
            </a:r>
          </a:p>
          <a:p>
            <a:pPr marL="342900" indent="-342900"/>
            <a:r>
              <a:rPr lang="en-US" b="1"/>
              <a:t>Betr:</a:t>
            </a:r>
            <a:r>
              <a:rPr lang="en-US"/>
              <a:t> Sports micro-betting platform co-founded with Howard Lutnick\u0027s son</a:t>
            </a:r>
          </a:p>
          <a:p>
            <a:pPr marL="342900" indent="-342900"/>
            <a:r>
              <a:rPr lang="en-US"/>
              <a:t>Endorsement deals across gaming, energy drinks, and fintech</a:t>
            </a:r>
          </a:p>
          <a:p>
            <a:pPr marL="342900" indent="-342900"/>
            <a:r>
              <a:rPr lang="en-US"/>
              <a:t>Built a diversified business portfolio far beyond content creation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Jake Paul vs. Traditional Media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342900" indent="-342900"/>
            <a:r>
              <a:rPr lang="en-US"/>
              <a:t>Repeatedly dismissed by mainstream sports media — used it as fuel and motivation</a:t>
            </a:r>
          </a:p>
          <a:p>
            <a:pPr marL="342900" indent="-342900"/>
            <a:r>
              <a:rPr lang="en-US"/>
              <a:t>Critics questioned the legitimacy of his boxing opponents</a:t>
            </a:r>
          </a:p>
          <a:p>
            <a:pPr marL="342900" indent="-342900"/>
            <a:r>
              <a:rPr lang="en-US" b="1"/>
              <a:t>Netflix deal</a:t>
            </a:r>
            <a:r>
              <a:rPr lang="en-US"/>
              <a:t> for the Tyson fight signaled acceptance by legacy media</a:t>
            </a:r>
          </a:p>
          <a:p>
            <a:pPr marL="342900" indent="-342900"/>
            <a:r>
              <a:rPr lang="en-US"/>
              <a:t>Featured in </a:t>
            </a:r>
            <a:r>
              <a:rPr lang="en-US" i="1"/>
              <a:t>New York Times</a:t>
            </a:r>
            <a:r>
              <a:rPr lang="en-US"/>
              <a:t>, </a:t>
            </a:r>
            <a:r>
              <a:rPr lang="en-US" i="1"/>
              <a:t>ESPN</a:t>
            </a:r>
            <a:r>
              <a:rPr lang="en-US"/>
              <a:t>, </a:t>
            </a:r>
            <a:r>
              <a:rPr lang="en-US" i="1"/>
              <a:t>Forbes</a:t>
            </a:r>
            <a:r>
              <a:rPr lang="en-US"/>
              <a:t>, and </a:t>
            </a:r>
            <a:r>
              <a:rPr lang="en-US" i="1"/>
              <a:t>Sports Illustrated</a:t>
            </a:r>
          </a:p>
          <a:p>
            <a:pPr marL="342900" indent="-342900"/>
            <a:r>
              <a:rPr lang="en-US"/>
              <a:t>Love-him-or-hate-him persona drives consistent media coverage</a:t>
            </a:r>
          </a:p>
          <a:p>
            <a:pPr marL="342900" indent="-342900"/>
            <a:r>
              <a:rPr lang="en-US"/>
              <a:t>Represents the tension between old-guard media and creator-economy celebrities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Social Media Metrics &amp; Reach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342900" indent="-342900"/>
            <a:r>
              <a:rPr lang="en-US" b="1"/>
              <a:t>YouTube:</a:t>
            </a:r>
            <a:r>
              <a:rPr lang="en-US"/>
              <a:t> 20M+ subscribers, billions of views</a:t>
            </a:r>
          </a:p>
          <a:p>
            <a:pPr marL="342900" indent="-342900"/>
            <a:r>
              <a:rPr lang="en-US" b="1"/>
              <a:t>Instagram:</a:t>
            </a:r>
            <a:r>
              <a:rPr lang="en-US"/>
              <a:t> 20M+ followers</a:t>
            </a:r>
          </a:p>
          <a:p>
            <a:pPr marL="342900" indent="-342900"/>
            <a:r>
              <a:rPr lang="en-US" b="1"/>
              <a:t>Twitter/X:</a:t>
            </a:r>
            <a:r>
              <a:rPr lang="en-US"/>
              <a:t> 6M+ followers</a:t>
            </a:r>
          </a:p>
          <a:p>
            <a:pPr marL="342900" indent="-342900"/>
            <a:r>
              <a:rPr lang="en-US" b="1"/>
              <a:t>TikTok:</a:t>
            </a:r>
            <a:r>
              <a:rPr lang="en-US"/>
              <a:t> Millions of views via fan and official accounts</a:t>
            </a:r>
          </a:p>
          <a:p>
            <a:pPr marL="342900" indent="-342900"/>
            <a:r>
              <a:rPr lang="en-US"/>
              <a:t>The Mike Tyson vs. Jake Paul Netflix stream drew </a:t>
            </a:r>
            <a:r>
              <a:rPr lang="en-US" b="1"/>
              <a:t>60+ million concurrent viewers</a:t>
            </a:r>
            <a:r>
              <a:rPr lang="en-US"/>
              <a:t> — a streaming record</a:t>
            </a:r>
          </a:p>
          <a:p>
            <a:pPr marL="342900" indent="-342900"/>
            <a:r>
              <a:rPr lang="en-US"/>
              <a:t>Every major event generates hundreds of millions of views globally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Cultural Legacy &amp; Ongoing Influence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342900" indent="-342900"/>
            <a:r>
              <a:rPr lang="en-US"/>
              <a:t>Redefined what it means to be a \u0027YouTuber\u0027 — beyond content into sport and business</a:t>
            </a:r>
          </a:p>
          <a:p>
            <a:pPr marL="342900" indent="-342900"/>
            <a:r>
              <a:rPr lang="en-US"/>
              <a:t>Demonstrated that internet-born celebrities can compete in mainstream arenas</a:t>
            </a:r>
          </a:p>
          <a:p>
            <a:pPr marL="342900" indent="-342900"/>
            <a:r>
              <a:rPr lang="en-US"/>
              <a:t>Influenced the influencer-to-athlete pipeline (KSI, Logan Paul, etc.)</a:t>
            </a:r>
          </a:p>
          <a:p>
            <a:pPr marL="342900" indent="-342900"/>
            <a:r>
              <a:rPr lang="en-US"/>
              <a:t>Sparked debates about: celebrity boxing ethics, platform responsibility, and creator accountability</a:t>
            </a:r>
          </a:p>
          <a:p>
            <a:pPr marL="342900" indent="-342900"/>
            <a:r>
              <a:rPr lang="en-US"/>
              <a:t>Remains one of the most polarizing figures in modern pop culture</a:t>
            </a:r>
          </a:p>
          <a:p>
            <a:pPr marL="342900" indent="-342900"/>
            <a:r>
              <a:rPr lang="en-US"/>
              <a:t>Whether loved or hated, Jake Paul is impossible to ignore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Subtitle Shape"/>
          <p:cNvSpPr>
            <a:spLocks noGrp="1"/>
          </p:cNvSpPr>
          <p:nvPr>
            <p:ph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">
  <a:themeElements>
    <a:clrScheme name="Minimal">
      <a:dk1>
        <a:srgbClr val="1A1A1A"/>
      </a:dk1>
      <a:lt1>
        <a:srgbClr val="FFFFFF"/>
      </a:lt1>
      <a:dk2>
        <a:srgbClr val="333333"/>
      </a:dk2>
      <a:lt2>
        <a:srgbClr val="F5F5F5"/>
      </a:lt2>
      <a:accent1>
        <a:srgbClr val="2D2D2D"/>
      </a:accent1>
      <a:accent2>
        <a:srgbClr val="767676"/>
      </a:accent2>
      <a:accent3>
        <a:srgbClr val="808080"/>
      </a:accent3>
      <a:accent4>
        <a:srgbClr val="4A90D9"/>
      </a:accent4>
      <a:accent5>
        <a:srgbClr val="D94A4A"/>
      </a:accent5>
      <a:accent6>
        <a:srgbClr val="2EA85B"/>
      </a:accent6>
      <a:hlink>
        <a:srgbClr val="4A90D9"/>
      </a:hlink>
      <a:folHlink>
        <a:srgbClr val="767676"/>
      </a:folHlink>
    </a:clrScheme>
    <a:fontScheme name="Minimal">
      <a:majorFont>
        <a:latin typeface="Inter"/>
        <a:ea typeface="Helvetica Neue"/>
        <a:cs typeface="Helvetica Neue"/>
      </a:majorFont>
      <a:minorFont>
        <a:latin typeface="Inter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/>
      <a:style>
        <a:lnRef idx="2">
          <a:schemeClr val="accent1"/>
        </a:lnRef>
        <a:fillRef idx="1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166</Words>
  <Application>Excudo</Application>
  <PresentationFormat>Widescreen</PresentationFormat>
  <Paragraphs>87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Inter</vt:lpstr>
      <vt:lpstr>Helvetica Neue</vt:lpstr>
      <vt:lpstr>Arial</vt:lpstr>
      <vt:lpstr>Minimal</vt:lpstr>
      <vt:lpstr>Jake Paul: Rise to Fame</vt:lpstr>
      <vt:lpstr>Who Is Jake Paul?</vt:lpstr>
      <vt:lpstr>The Vine &amp; Early YouTube Era (2013–2015)</vt:lpstr>
      <vt:lpstr>Disney &amp; Mainstream Breakthrough (2016–2017)</vt:lpstr>
      <vt:lpstr>Team 10 &amp; The Social Media House</vt:lpstr>
      <vt:lpstr>Cultural Impact &amp; Influence</vt:lpstr>
      <vt:lpstr>Controversies</vt:lpstr>
      <vt:lpstr>Controversies: Early Incidents (2017–2018)</vt:lpstr>
      <vt:lpstr>Controversies: Relationships &amp; Allegations (2019–2021)</vt:lpstr>
      <vt:lpstr>The Boxing Chapter (2020–Present)</vt:lpstr>
      <vt:lpstr>Business Ventures &amp; Entrepreneurship</vt:lpstr>
      <vt:lpstr>Jake Paul vs. Traditional Media</vt:lpstr>
      <vt:lpstr>Social Media Metrics &amp; Reach</vt:lpstr>
      <vt:lpstr>Cultural Legacy &amp; Ongoing Influence</vt:lpstr>
      <vt:lpstr>Summary</vt:lpstr>
    </vt:vector>
  </TitlesOfParts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Untitled Presentation</dc:title>
  <dc:creator>Excudo</dc:creator>
  <cp:lastModifiedBy>Excudo</cp:lastModifiedBy>
  <cp:revision>1</cp:revision>
  <dcterms:created xsi:type="dcterms:W3CDTF">2026-03-28T03:45:26Z</dcterms:created>
  <dcterms:modified xsi:type="dcterms:W3CDTF">2026-03-28T03:45:26Z</dcterms:modified>
</cp:coreProperties>
</file>