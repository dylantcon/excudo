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7100" y="7048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Calibri"/>
              </a:rPr>
              <a:t>Normal tracking baseline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6300" y="7048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spc="300">
                <a:latin typeface="Calibri"/>
              </a:rPr>
              <a:t>Expanded tracking +3pt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45500" y="7048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spc="-100">
                <a:latin typeface="Calibri"/>
              </a:rPr>
              <a:t>Tight tracking -1pt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7100" y="26860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cap="small">
                <a:latin typeface="Calibri"/>
              </a:rPr>
              <a:t>Small Caps Sample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6300" y="26860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cap="all">
                <a:latin typeface="Calibri"/>
              </a:rPr>
              <a:t>all caps sample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5500" y="26860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u="sng">
                <a:latin typeface="Calibri"/>
              </a:rPr>
              <a:t>Underlined sample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46672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strike="sngStrike">
                <a:latin typeface="Calibri"/>
              </a:rPr>
              <a:t>Struck-through sample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6300" y="46672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aseline="30000">
                <a:latin typeface="Calibri"/>
              </a:rPr>
              <a:t>Superscript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5500" y="4667250"/>
            <a:ext cx="28194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aseline="-25000">
                <a:latin typeface="Calibri"/>
              </a:rPr>
              <a:t>Subscript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7100" y="1200150"/>
            <a:ext cx="2819400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latin typeface="Calibri"/>
              </a:rPr>
              <a:t>Line spacing 1 paragraph 1 wraps here</a:t>
            </a:r>
          </a:p>
          <a:p>
            <a:pPr>
              <a:lnSpc>
                <a:spcPct val="100000"/>
              </a:lnSpc>
            </a:pPr>
            <a:r>
              <a:rPr sz="1400">
                <a:latin typeface="Calibri"/>
              </a:rPr>
              <a:t>Line spacing 1 paragraph 2 wraps here</a:t>
            </a:r>
          </a:p>
          <a:p>
            <a:pPr>
              <a:lnSpc>
                <a:spcPct val="100000"/>
              </a:lnSpc>
            </a:pPr>
            <a:r>
              <a:rPr sz="1400">
                <a:latin typeface="Calibri"/>
              </a:rPr>
              <a:t>Line spacing 1 paragraph 3 wraps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6300" y="1200150"/>
            <a:ext cx="2819400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Calibri"/>
              </a:rPr>
              <a:t>Line spacing 1.5 paragraph 1 wraps here</a:t>
            </a:r>
          </a:p>
          <a:p>
            <a:pPr>
              <a:lnSpc>
                <a:spcPct val="150000"/>
              </a:lnSpc>
            </a:pPr>
            <a:r>
              <a:rPr sz="1400">
                <a:latin typeface="Calibri"/>
              </a:rPr>
              <a:t>Line spacing 1.5 paragraph 2 wraps here</a:t>
            </a:r>
          </a:p>
          <a:p>
            <a:pPr>
              <a:lnSpc>
                <a:spcPct val="150000"/>
              </a:lnSpc>
            </a:pPr>
            <a:r>
              <a:rPr sz="1400">
                <a:latin typeface="Calibri"/>
              </a:rPr>
              <a:t>Line spacing 1.5 paragraph 3 wraps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45500" y="1200150"/>
            <a:ext cx="2819400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400">
                <a:latin typeface="Calibri"/>
              </a:rPr>
              <a:t>Line spacing 2 paragraph 1 wraps here</a:t>
            </a:r>
          </a:p>
          <a:p>
            <a:pPr>
              <a:lnSpc>
                <a:spcPct val="200000"/>
              </a:lnSpc>
            </a:pPr>
            <a:r>
              <a:rPr sz="1400">
                <a:latin typeface="Calibri"/>
              </a:rPr>
              <a:t>Line spacing 2 paragraph 2 wraps here</a:t>
            </a:r>
          </a:p>
          <a:p>
            <a:pPr>
              <a:lnSpc>
                <a:spcPct val="200000"/>
              </a:lnSpc>
            </a:pPr>
            <a:r>
              <a:rPr sz="1400">
                <a:latin typeface="Calibri"/>
              </a:rPr>
              <a:t>Line spacing 2 paragraph 3 wraps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