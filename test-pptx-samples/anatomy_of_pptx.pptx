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AE4123-CF3F-0A70-EAD3-7E66BD1723B8}" name="Purnima Srivastava" initials="PS" userId="S::purnima.srivastava@coderogres.com::b45e343f-d928-4666-8903-467e98ac36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103C3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63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1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FD02C-E00B-4F2D-8AFB-8E15379ACE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0C57C-D03F-4F8B-93C2-66EB68608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4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Google Shape;291;p5">
            <a:extLst>
              <a:ext uri="{FF2B5EF4-FFF2-40B4-BE49-F238E27FC236}">
                <a16:creationId xmlns:a16="http://schemas.microsoft.com/office/drawing/2014/main" id="{75B45892-4151-4D92-AB13-D943E0372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A5A6E98A-B509-442C-98D4-1670847B7F33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" name="Google Shape;294;p5">
              <a:extLst>
                <a:ext uri="{FF2B5EF4-FFF2-40B4-BE49-F238E27FC236}">
                  <a16:creationId xmlns:a16="http://schemas.microsoft.com/office/drawing/2014/main" id="{27E48441-C0C9-4DFB-B0B2-3D8628AA5E2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5;p5">
              <a:extLst>
                <a:ext uri="{FF2B5EF4-FFF2-40B4-BE49-F238E27FC236}">
                  <a16:creationId xmlns:a16="http://schemas.microsoft.com/office/drawing/2014/main" id="{5AFE4C34-5DA5-4CC8-BC55-3A06C026EBA4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6;p5">
              <a:extLst>
                <a:ext uri="{FF2B5EF4-FFF2-40B4-BE49-F238E27FC236}">
                  <a16:creationId xmlns:a16="http://schemas.microsoft.com/office/drawing/2014/main" id="{E70CD7CE-2F16-47D2-8164-C9E8542A509C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7;p5">
              <a:extLst>
                <a:ext uri="{FF2B5EF4-FFF2-40B4-BE49-F238E27FC236}">
                  <a16:creationId xmlns:a16="http://schemas.microsoft.com/office/drawing/2014/main" id="{D477E396-1DDF-4739-A869-04DD0E95F779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298;p5">
              <a:extLst>
                <a:ext uri="{FF2B5EF4-FFF2-40B4-BE49-F238E27FC236}">
                  <a16:creationId xmlns:a16="http://schemas.microsoft.com/office/drawing/2014/main" id="{85A73084-DEA1-4AA1-B9CB-70E878A1742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299;p5">
              <a:extLst>
                <a:ext uri="{FF2B5EF4-FFF2-40B4-BE49-F238E27FC236}">
                  <a16:creationId xmlns:a16="http://schemas.microsoft.com/office/drawing/2014/main" id="{EF4E215A-831A-417F-8DEE-7149A4D383CA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0;p5">
              <a:extLst>
                <a:ext uri="{FF2B5EF4-FFF2-40B4-BE49-F238E27FC236}">
                  <a16:creationId xmlns:a16="http://schemas.microsoft.com/office/drawing/2014/main" id="{F6291D7D-C525-4E4F-A4C5-F602389B0322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1;p5">
              <a:extLst>
                <a:ext uri="{FF2B5EF4-FFF2-40B4-BE49-F238E27FC236}">
                  <a16:creationId xmlns:a16="http://schemas.microsoft.com/office/drawing/2014/main" id="{D14CF0BE-75BF-416D-9C09-C8EF0438B61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2;p5">
              <a:extLst>
                <a:ext uri="{FF2B5EF4-FFF2-40B4-BE49-F238E27FC236}">
                  <a16:creationId xmlns:a16="http://schemas.microsoft.com/office/drawing/2014/main" id="{EAFCDCFF-A04B-4537-A2FB-EC93CEBC104E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3;p5">
              <a:extLst>
                <a:ext uri="{FF2B5EF4-FFF2-40B4-BE49-F238E27FC236}">
                  <a16:creationId xmlns:a16="http://schemas.microsoft.com/office/drawing/2014/main" id="{B03CCECA-6177-4D99-BD5A-F4862FBCB7D9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4;p5">
              <a:extLst>
                <a:ext uri="{FF2B5EF4-FFF2-40B4-BE49-F238E27FC236}">
                  <a16:creationId xmlns:a16="http://schemas.microsoft.com/office/drawing/2014/main" id="{E656BAEA-E78A-4EBB-8A6C-516ADC08DF62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5;p5">
              <a:extLst>
                <a:ext uri="{FF2B5EF4-FFF2-40B4-BE49-F238E27FC236}">
                  <a16:creationId xmlns:a16="http://schemas.microsoft.com/office/drawing/2014/main" id="{F6D1A9BC-6312-449B-A3B4-2CFCB3CABA6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6;p5">
              <a:extLst>
                <a:ext uri="{FF2B5EF4-FFF2-40B4-BE49-F238E27FC236}">
                  <a16:creationId xmlns:a16="http://schemas.microsoft.com/office/drawing/2014/main" id="{EAEA8E4A-B0B7-4BF1-B03A-FD5E787D3083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7;p5">
              <a:extLst>
                <a:ext uri="{FF2B5EF4-FFF2-40B4-BE49-F238E27FC236}">
                  <a16:creationId xmlns:a16="http://schemas.microsoft.com/office/drawing/2014/main" id="{BDAB381B-0F6C-48C6-B2EE-3B53DD006771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08;p5">
              <a:extLst>
                <a:ext uri="{FF2B5EF4-FFF2-40B4-BE49-F238E27FC236}">
                  <a16:creationId xmlns:a16="http://schemas.microsoft.com/office/drawing/2014/main" id="{F99E90CC-0673-4777-A179-0C33D6DD9A46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09;p5">
              <a:extLst>
                <a:ext uri="{FF2B5EF4-FFF2-40B4-BE49-F238E27FC236}">
                  <a16:creationId xmlns:a16="http://schemas.microsoft.com/office/drawing/2014/main" id="{531841F5-5C74-4E64-B57B-B265CA975FC6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0;p5">
              <a:extLst>
                <a:ext uri="{FF2B5EF4-FFF2-40B4-BE49-F238E27FC236}">
                  <a16:creationId xmlns:a16="http://schemas.microsoft.com/office/drawing/2014/main" id="{E3574375-2685-4C8D-AEDB-6B30733E491F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1;p5">
              <a:extLst>
                <a:ext uri="{FF2B5EF4-FFF2-40B4-BE49-F238E27FC236}">
                  <a16:creationId xmlns:a16="http://schemas.microsoft.com/office/drawing/2014/main" id="{B422FE0D-C668-41A8-B2DE-FE82027D321C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2;p5">
              <a:extLst>
                <a:ext uri="{FF2B5EF4-FFF2-40B4-BE49-F238E27FC236}">
                  <a16:creationId xmlns:a16="http://schemas.microsoft.com/office/drawing/2014/main" id="{6F981503-205F-47D5-81C3-DB6EB315CB0F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3;p5">
              <a:extLst>
                <a:ext uri="{FF2B5EF4-FFF2-40B4-BE49-F238E27FC236}">
                  <a16:creationId xmlns:a16="http://schemas.microsoft.com/office/drawing/2014/main" id="{976267A1-A463-479F-9967-C3E8F196532E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4;p5">
              <a:extLst>
                <a:ext uri="{FF2B5EF4-FFF2-40B4-BE49-F238E27FC236}">
                  <a16:creationId xmlns:a16="http://schemas.microsoft.com/office/drawing/2014/main" id="{B4440EA4-F067-4E18-962E-6DD8B6B4DEE0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5;p5">
              <a:extLst>
                <a:ext uri="{FF2B5EF4-FFF2-40B4-BE49-F238E27FC236}">
                  <a16:creationId xmlns:a16="http://schemas.microsoft.com/office/drawing/2014/main" id="{3BD7F1C3-D163-42B9-B29F-F75C8E618501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6;p5">
              <a:extLst>
                <a:ext uri="{FF2B5EF4-FFF2-40B4-BE49-F238E27FC236}">
                  <a16:creationId xmlns:a16="http://schemas.microsoft.com/office/drawing/2014/main" id="{97AEC01A-F26B-4789-A594-C3359A4E25E8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7;p5">
              <a:extLst>
                <a:ext uri="{FF2B5EF4-FFF2-40B4-BE49-F238E27FC236}">
                  <a16:creationId xmlns:a16="http://schemas.microsoft.com/office/drawing/2014/main" id="{A8903087-3D1C-413B-95F3-C7F4C20CB5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18;p5">
              <a:extLst>
                <a:ext uri="{FF2B5EF4-FFF2-40B4-BE49-F238E27FC236}">
                  <a16:creationId xmlns:a16="http://schemas.microsoft.com/office/drawing/2014/main" id="{28E15D50-4063-49DA-B792-ABBDC3D93526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19;p5">
              <a:extLst>
                <a:ext uri="{FF2B5EF4-FFF2-40B4-BE49-F238E27FC236}">
                  <a16:creationId xmlns:a16="http://schemas.microsoft.com/office/drawing/2014/main" id="{FDDEEE6E-8097-4430-BDA2-588AFB435C87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0;p5">
              <a:extLst>
                <a:ext uri="{FF2B5EF4-FFF2-40B4-BE49-F238E27FC236}">
                  <a16:creationId xmlns:a16="http://schemas.microsoft.com/office/drawing/2014/main" id="{F4B5A6CC-D63C-43C9-BC6E-26CB372C4259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5" name="Google Shape;321;p5">
              <a:extLst>
                <a:ext uri="{FF2B5EF4-FFF2-40B4-BE49-F238E27FC236}">
                  <a16:creationId xmlns:a16="http://schemas.microsoft.com/office/drawing/2014/main" id="{E524F7DE-A070-41EE-8AD0-C2D037B4E0AF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6" name="Google Shape;322;p5">
              <a:extLst>
                <a:ext uri="{FF2B5EF4-FFF2-40B4-BE49-F238E27FC236}">
                  <a16:creationId xmlns:a16="http://schemas.microsoft.com/office/drawing/2014/main" id="{B19F1824-5DAE-42BE-89E8-209BB6345FF8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7" name="Text Placeholder 173">
            <a:extLst>
              <a:ext uri="{FF2B5EF4-FFF2-40B4-BE49-F238E27FC236}">
                <a16:creationId xmlns:a16="http://schemas.microsoft.com/office/drawing/2014/main" id="{27FB79BE-641A-4CAB-BFE0-4D776066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94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6" name="Google Shape;291;p5">
            <a:extLst>
              <a:ext uri="{FF2B5EF4-FFF2-40B4-BE49-F238E27FC236}">
                <a16:creationId xmlns:a16="http://schemas.microsoft.com/office/drawing/2014/main" id="{A0500C0F-A345-4601-95F5-3406B51290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678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Google Shape;291;p5">
            <a:extLst>
              <a:ext uri="{FF2B5EF4-FFF2-40B4-BE49-F238E27FC236}">
                <a16:creationId xmlns:a16="http://schemas.microsoft.com/office/drawing/2014/main" id="{7D91CF79-CCEE-49CA-8A90-E6C585E73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524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83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3" name="Text Placeholder 173">
            <a:extLst>
              <a:ext uri="{FF2B5EF4-FFF2-40B4-BE49-F238E27FC236}">
                <a16:creationId xmlns:a16="http://schemas.microsoft.com/office/drawing/2014/main" id="{4E9BB606-5527-45E4-BEF1-5AD1FF37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38A1CEB9-332F-4F01-8D5A-5F1907A4C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9E49AFB8-70F7-43FB-B010-8D02FED616F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4" y="1826683"/>
            <a:ext cx="508404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6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9737174" y="-392483"/>
            <a:ext cx="600733" cy="744979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47165" y="4489284"/>
            <a:ext cx="591013" cy="672893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1757265" y="45862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11657298" y="5555569"/>
            <a:ext cx="660375" cy="453651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11147940" y="6009221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102771" y="19840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10736763" y="64336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10736769" y="5509769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9907864" y="64975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11666301" y="6600167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11363259" y="5333706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1772537" y="6111825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1951973" y="1784958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9480176" y="6502682"/>
            <a:ext cx="373213" cy="477295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10212864" y="5826928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11730117" y="4104977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10376560" y="65135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462503" y="811487"/>
            <a:ext cx="280284" cy="611852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860014" y="4746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1091747" y="-39763"/>
            <a:ext cx="609091" cy="567451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11" y="1351155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1599141" y="238816"/>
            <a:ext cx="695056" cy="718656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933939" y="6076801"/>
            <a:ext cx="672893" cy="534169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345290" y="-115001"/>
            <a:ext cx="627093" cy="58961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46688" y="54341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961678" y="6664025"/>
            <a:ext cx="617412" cy="23728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324171" y="722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456069" y="-134498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51501" y="7720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871701" y="15333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1274653" y="-76221"/>
            <a:ext cx="431488" cy="428728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777725" y="6237940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122165" y="6070569"/>
            <a:ext cx="554971" cy="546651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2034237" y="6548458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3606" y="6533642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10967401" y="833700"/>
            <a:ext cx="668696" cy="567409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462490" y="5418857"/>
            <a:ext cx="639575" cy="452289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10661707" y="422573"/>
            <a:ext cx="373208" cy="47728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11735680" y="1053695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345284" y="6610610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11599127" y="15352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2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50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Google Shape;291;p5">
            <a:extLst>
              <a:ext uri="{FF2B5EF4-FFF2-40B4-BE49-F238E27FC236}">
                <a16:creationId xmlns:a16="http://schemas.microsoft.com/office/drawing/2014/main" id="{80CFE913-8992-4639-BFD5-F8CDD3238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Text Placeholder 173">
            <a:extLst>
              <a:ext uri="{FF2B5EF4-FFF2-40B4-BE49-F238E27FC236}">
                <a16:creationId xmlns:a16="http://schemas.microsoft.com/office/drawing/2014/main" id="{18DB5022-26C0-420A-B8FE-A2E76360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3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291;p5">
            <a:extLst>
              <a:ext uri="{FF2B5EF4-FFF2-40B4-BE49-F238E27FC236}">
                <a16:creationId xmlns:a16="http://schemas.microsoft.com/office/drawing/2014/main" id="{A7D42CE1-F596-434E-888B-F927D5AF4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1" name="Text Placeholder 173">
            <a:extLst>
              <a:ext uri="{FF2B5EF4-FFF2-40B4-BE49-F238E27FC236}">
                <a16:creationId xmlns:a16="http://schemas.microsoft.com/office/drawing/2014/main" id="{FFE0AD90-2A99-4C5F-980F-8D914F939C1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84024" y="1826684"/>
            <a:ext cx="513544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97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C3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0" y="-31"/>
            <a:ext cx="12191731" cy="6857837"/>
            <a:chOff x="239949" y="872550"/>
            <a:chExt cx="7042901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244C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49" y="2607769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3ACD15CA-3EBF-4C8A-8FB2-98DA7FCD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4" name="Text Placeholder 173">
            <a:extLst>
              <a:ext uri="{FF2B5EF4-FFF2-40B4-BE49-F238E27FC236}">
                <a16:creationId xmlns:a16="http://schemas.microsoft.com/office/drawing/2014/main" id="{256B5515-0DC8-4C22-B008-913BB1AA4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0587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7" r:id="rId5"/>
    <p:sldLayoutId id="2147483669" r:id="rId6"/>
    <p:sldLayoutId id="2147483670" r:id="rId7"/>
    <p:sldLayoutId id="2147483671" r:id="rId8"/>
    <p:sldLayoutId id="2147483672" r:id="rId9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400" b="0" i="0" u="none" strike="noStrike" cap="none">
          <a:solidFill>
            <a:srgbClr val="FFD0A1"/>
          </a:solidFill>
          <a:latin typeface="Dosis" pitchFamily="2" charset="0"/>
          <a:ea typeface="Dosis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04792" marR="0" lvl="0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F2F2F2"/>
        </a:buClr>
        <a:buFont typeface="Wingdings" panose="05000000000000000000" pitchFamily="2" charset="2"/>
        <a:buChar char="§"/>
        <a:defRPr sz="2800" b="0" i="0" u="none" strike="noStrike" cap="none">
          <a:solidFill>
            <a:schemeClr val="tx1"/>
          </a:solidFill>
          <a:latin typeface="+mn-lt"/>
          <a:ea typeface="Arial"/>
          <a:cs typeface="Arial"/>
          <a:sym typeface="Arial"/>
        </a:defRPr>
      </a:lvl1pPr>
      <a:lvl2pPr marL="609585" marR="0" lvl="1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F2F2F2"/>
        </a:buClr>
        <a:buFont typeface="Wingdings" panose="05000000000000000000" pitchFamily="2" charset="2"/>
        <a:buChar char="§"/>
        <a:tabLst>
          <a:tab pos="609585" algn="l"/>
        </a:tabLst>
        <a:defRPr sz="2800" b="0" i="0" u="none" strike="noStrike" cap="none">
          <a:solidFill>
            <a:schemeClr val="tx1"/>
          </a:solidFill>
          <a:latin typeface="+mn-lt"/>
          <a:ea typeface="Arial"/>
          <a:cs typeface="Arial"/>
          <a:sym typeface="Arial"/>
        </a:defRPr>
      </a:lvl2pPr>
      <a:lvl3pPr marL="914377" marR="0" lvl="2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F2F2F2"/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tx1"/>
          </a:solidFill>
          <a:latin typeface="+mn-lt"/>
          <a:ea typeface="Arial"/>
          <a:cs typeface="Arial"/>
          <a:sym typeface="Arial"/>
        </a:defRPr>
      </a:lvl3pPr>
      <a:lvl4pPr marL="1219170" marR="0" lvl="3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F2F2F2"/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tx1"/>
          </a:solidFill>
          <a:latin typeface="+mn-lt"/>
          <a:ea typeface="Arial"/>
          <a:cs typeface="Arial"/>
          <a:sym typeface="Arial"/>
        </a:defRPr>
      </a:lvl4pPr>
      <a:lvl5pPr marL="1523962" marR="0" lvl="4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F2F2F2"/>
        </a:buClr>
        <a:buFont typeface="Wingdings" panose="05000000000000000000" pitchFamily="2" charset="2"/>
        <a:buChar char="§"/>
        <a:defRPr sz="2000" b="0" i="0" u="none" strike="noStrike" cap="none">
          <a:solidFill>
            <a:schemeClr val="tx1"/>
          </a:solidFill>
          <a:latin typeface="+mn-lt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/>
          <p:cNvSpPr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rtlCol="0" anchor="ctr">
            <a:normAutofit/>
          </a:bodyPr>
          <a:lstStyle/>
          <a:p>
            <a:r>
              <a:rPr lang="en-US"/>
              <a:t>The Anatomy of a PowerPoint File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rtlCol="0" anchor="t">
            <a:normAutofit/>
          </a:bodyPr>
          <a:lstStyle/>
          <a:p>
            <a:endParaRPr lang="en-US" dirty="0"/>
          </a:p>
        </p:txBody>
        <p:txBody>
          <a:bodyPr/>
          <a:lstStyle/>
          <a:p>
            <a:r>
              <a:rPr lang="en-US" sz="1800">
                <a:solidFill>
                  <a:schemeClr val="lt1"/>
                </a:solidFill>
              </a:rPr>
              <a:t>The .pptx facilitating this presentation is a ZIP full of specialized XML called OOXML.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rtlCol="0" anchor="ctr">
            <a:normAutofit/>
          </a:bodyPr>
          <a:lstStyle/>
          <a:p>
            <a:r>
              <a:rPr lang="en-US"/>
              <a:t>What is OOXML?</a:t>
            </a:r>
          </a:p>
        </p:txBody>
      </p:sp>
      <p:sp>
        <p:nvSpPr>
          <p:cNvPr id="3" name="Shape"/>
          <p:cNvSpPr/>
          <p:nvPr/>
        </p:nvSpPr>
        <p:spPr>
          <a:xfrm>
            <a:off x="838200" y="1825625"/>
            <a:ext cx="7772400" cy="4200000"/>
          </a:xfrm>
          <a:prstGeom prst="roundRect">
            <a:avLst/>
          </a:prstGeom>
          <a:solidFill>
            <a:srgbClr val="1A1A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lt1"/>
                </a:solidFill>
              </a:rPr>
              <a:t>XML: eXtensible Markup Language -- structured, human-readable data\n- ISO/IEC 29500: The 7,000+ page standard defining Office Open XML\n- Open Packaging Convention: .pptx, .docx, .xlsx are all ZIP archives of XML parts\n- This is deliberate, standardized design -- not a quirk\n- One format, three applications, infinite programmability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rtlCol="0" anchor="ctr">
            <a:normAutofit/>
          </a:bodyPr>
          <a:lstStyle/>
          <a:p>
            <a:r>
              <a:rPr lang="en-US"/>
              <a:t>The Folder Tree</a:t>
            </a:r>
          </a:p>
        </p:txBody>
      </p:sp>
      <p:sp>
        <p:nvSpPr>
          <p:cNvPr id="3" name="Shape"/>
          <p:cNvSpPr/>
          <p:nvPr/>
        </p:nvSpPr>
        <p:spPr>
          <a:xfrm>
            <a:off x="457200" y="1600200"/>
            <a:ext cx="8229600" cy="4800000"/>
          </a:xfrm>
          <a:prstGeom prst="snip1Rect">
            <a:avLst/>
          </a:prstGeom>
          <a:solidFill>
            <a:srgbClr val="3F3F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  <p:txBody>
          <a:bodyPr/>
          <a:lstStyle/>
          <a:p>
            <a:r>
              <a:rPr lang="en-US" sz="1800">
                <a:solidFill>
                  <a:schemeClr val="lt1"/>
                </a:solidFill>
              </a:rPr>
              <a:t>presentation.pptx (ZIP archive)\n|\n+-- [Content_Types].xml       Maps extensions to content types\n+-- _rels/\n|   +-- .rels                  Root relationships\n+-- ppt/\n    +-- presentation.xml       Master index: slide list, sizes\n    +-- slides/\n    |   +-- slide1.xml          Slide content (shapes, text)\n    +-- slideLayouts/\n    |   +-- slideLayout1.xml   Layout templates\n    +-- slideMasters/\n    |   +-- slideMaster1.xml   Master defaults (fonts, colors)\n    +-- theme/\n        +-- theme1.xml         Color schemes, font families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rtlCol="0" anchor="ctr">
            <a:normAutofit/>
          </a:bodyPr>
          <a:lstStyle/>
          <a:p>
            <a:r>
              <a:rPr lang="en-US"/>
              <a:t>Relationships &amp; Inheritance</a:t>
            </a:r>
          </a:p>
        </p:txBody>
      </p:sp>
      <p:sp>
        <p:nvSpPr>
          <p:cNvPr id="3" name="Shape"/>
          <p:cNvSpPr/>
          <p:nvPr/>
        </p:nvSpPr>
        <p:spPr>
          <a:xfrm>
            <a:off x="457200" y="2057400"/>
            <a:ext cx="2400000" cy="1143000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800">
                <a:solidFill>
                  <a:schemeClr val="lt1"/>
                </a:solidFill>
              </a:rPr>
              <a:t>slide1.xml</a:t>
            </a:r>
          </a:p>
        </p:txBody>
      </p:sp>
      <p:sp>
        <p:nvSpPr>
          <p:cNvPr id="4" name="Shape"/>
          <p:cNvSpPr/>
          <p:nvPr/>
        </p:nvSpPr>
        <p:spPr>
          <a:xfrm>
            <a:off x="3429000" y="2057400"/>
            <a:ext cx="2743200" cy="1143000"/>
          </a:xfrm>
          <a:prstGeom prst="roundRect">
            <a:avLst/>
          </a:prstGeom>
          <a:solidFill>
            <a:srgbClr val="2F54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800">
                <a:solidFill>
                  <a:schemeClr val="lt1"/>
                </a:solidFill>
              </a:rPr>
              <a:t>slideLayout1.xml</a:t>
            </a:r>
          </a:p>
        </p:txBody>
      </p:sp>
      <p:sp>
        <p:nvSpPr>
          <p:cNvPr id="5" name="Shape"/>
          <p:cNvSpPr/>
          <p:nvPr/>
        </p:nvSpPr>
        <p:spPr>
          <a:xfrm>
            <a:off x="6858000" y="2057400"/>
            <a:ext cx="2286000" cy="1143000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800">
                <a:solidFill>
                  <a:schemeClr val="lt1"/>
                </a:solidFill>
              </a:rPr>
              <a:t>slideMaster1.xml</a:t>
            </a:r>
          </a:p>
        </p:txBody>
      </p:sp>
      <p:sp>
        <p:nvSpPr>
          <p:cNvPr id="6" name="Shape"/>
          <p:cNvSpPr/>
          <p:nvPr/>
        </p:nvSpPr>
        <p:spPr>
          <a:xfrm>
            <a:off x="2857200" y="2400000"/>
            <a:ext cx="571800" cy="457200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6172200" y="2400000"/>
            <a:ext cx="685800" cy="457200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457200" y="3657600"/>
            <a:ext cx="8686800" cy="1600200"/>
          </a:xfrm>
          <a:prstGeom prst="roundRect">
            <a:avLst/>
          </a:prstGeom>
          <a:solidFill>
            <a:srgbClr val="2D2D2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  <p:txBody>
          <a:bodyPr/>
          <a:lstStyle/>
          <a:p>
            <a:r>
              <a:rPr lang="en-US" sz="1800">
                <a:solidFill>
                  <a:schemeClr val="lt1"/>
                </a:solidFill>
              </a:rPr>
              <a:t>A slide inherits fonts, colors, and default shapes from the layer above.\nIt never defines its own theme -- it borrows through the chain:\nslide -&gt; slideLayout -&gt; slideMaster -&gt; theme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 animBg="1"/>
      <p:bldP spid="7" grpId="0" animBg="1"/>
      <p:bldP spid="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rtlCol="0" anchor="ctr">
            <a:normAutofit/>
          </a:bodyPr>
          <a:lstStyle/>
          <a:p>
            <a:r>
              <a:rPr lang="en-US"/>
              <a:t>Why It Matters</a:t>
            </a:r>
          </a:p>
        </p:txBody>
      </p:sp>
      <p:sp>
        <p:nvSpPr>
          <p:cNvPr id="3" name="Shape"/>
          <p:cNvSpPr/>
          <p:nvPr/>
        </p:nvSpPr>
        <p:spPr>
          <a:xfrm>
            <a:off x="838200" y="1825625"/>
            <a:ext cx="7772400" cy="4200000"/>
          </a:xfrm>
          <a:prstGeom prst="roundRect">
            <a:avLst/>
          </a:prstGeom>
          <a:solidFill>
            <a:srgbClr val="1A1A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lt1"/>
                </a:solidFill>
              </a:rPr>
              <a:t>Because it is XML in a ZIP, the format is fully programmable\n- Tools can read, write, edit, and delete elements as text\n- No proprietary binary format -- no vendor lock-in\n- This presentation was built programmatically by Excudo\n- Every shape, every color, every bullet: generated from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ors_theme">
  <a:themeElements>
    <a:clrScheme name="BestContrast">
      <a:dk1>
        <a:srgbClr val="103C3F"/>
      </a:dk1>
      <a:lt1>
        <a:srgbClr val="F2F2F2"/>
      </a:lt1>
      <a:dk2>
        <a:srgbClr val="244C4E"/>
      </a:dk2>
      <a:lt2>
        <a:srgbClr val="E8E8E8"/>
      </a:lt2>
      <a:accent1>
        <a:srgbClr val="569CD6"/>
      </a:accent1>
      <a:accent2>
        <a:srgbClr val="DB5151"/>
      </a:accent2>
      <a:accent3>
        <a:srgbClr val="B5CEA8"/>
      </a:accent3>
      <a:accent4>
        <a:srgbClr val="9090AE"/>
      </a:accent4>
      <a:accent5>
        <a:srgbClr val="C586C0"/>
      </a:accent5>
      <a:accent6>
        <a:srgbClr val="FFD0A1"/>
      </a:accent6>
      <a:hlink>
        <a:srgbClr val="53CBD3"/>
      </a:hlink>
      <a:folHlink>
        <a:srgbClr val="53CBD3"/>
      </a:folHlink>
    </a:clrScheme>
    <a:fontScheme name="Dosis">
      <a:majorFont>
        <a:latin typeface="Dosis"/>
        <a:ea typeface=""/>
        <a:cs typeface=""/>
      </a:majorFont>
      <a:minorFont>
        <a:latin typeface="Dos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Wingdings" panose="05000000000000000000" pitchFamily="2" charset="2"/>
          <a:buChar char="§"/>
          <a:defRPr dirty="0">
            <a:solidFill>
              <a:srgbClr val="F2F2F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der_ogres_template" id="{57D26786-ED71-44FC-9FDB-51F09117A7E7}" vid="{5FBAB8BA-AF53-4546-A17B-209BB8A95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211</Words>
  <Application>Excudo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Dosis</vt:lpstr>
      <vt:lpstr>Wingdings</vt:lpstr>
      <vt:lpstr>Arial</vt:lpstr>
      <vt:lpstr>cheors_theme</vt:lpstr>
      <vt:lpstr>The Anatomy of a PowerPoint File</vt:lpstr>
      <vt:lpstr>What is OOXML?</vt:lpstr>
      <vt:lpstr>The Folder Tree</vt:lpstr>
      <vt:lpstr>Relationships &amp;amp; Inheritance</vt:lpstr>
      <vt:lpstr>Why It Matters</vt:lpstr>
    </vt:vector>
  </TitlesOfParts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connolly</dc:creator>
  <cp:lastModifiedBy>Dylan Connolly</cp:lastModifiedBy>
  <cp:revision>15</cp:revision>
  <dcterms:created xsi:type="dcterms:W3CDTF">2025-07-02T04:10:02Z</dcterms:created>
  <dcterms:modified xsi:type="dcterms:W3CDTF">2026-02-27T00:38:47Z</dcterms:modified>
</cp:coreProperties>
</file>