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466_71B806E4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46A_A72EFE77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471_7B1D7A23.xml" ContentType="application/vnd.ms-powerpoint.comments+xml"/>
  <Override PartName="/ppt/notesSlides/notesSlide10.xml" ContentType="application/vnd.openxmlformats-officedocument.presentationml.notesSlide+xml"/>
  <Override PartName="/ppt/comments/modernComment_46B_33BC463.xml" ContentType="application/vnd.ms-powerpoint.comments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comments/modernComment_46C_873E3A74.xml" ContentType="application/vnd.ms-powerpoint.comments+xml"/>
  <Override PartName="/ppt/notesSlides/notesSlide13.xml" ContentType="application/vnd.openxmlformats-officedocument.presentationml.notesSlide+xml"/>
  <Override PartName="/ppt/comments/modernComment_46E_BC79CFC3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473_7E78EE2.xml" ContentType="application/vnd.ms-powerpoint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6"/>
  </p:notesMasterIdLst>
  <p:sldIdLst>
    <p:sldId id="1151" r:id="rId2"/>
    <p:sldId id="1125" r:id="rId3"/>
    <p:sldId id="1126" r:id="rId4"/>
    <p:sldId id="1127" r:id="rId5"/>
    <p:sldId id="1128" r:id="rId6"/>
    <p:sldId id="1129" r:id="rId7"/>
    <p:sldId id="1149" r:id="rId8"/>
    <p:sldId id="1130" r:id="rId9"/>
    <p:sldId id="1146" r:id="rId10"/>
    <p:sldId id="1137" r:id="rId11"/>
    <p:sldId id="1131" r:id="rId12"/>
    <p:sldId id="1133" r:id="rId13"/>
    <p:sldId id="1132" r:id="rId14"/>
    <p:sldId id="1134" r:id="rId15"/>
    <p:sldId id="1135" r:id="rId16"/>
    <p:sldId id="1144" r:id="rId17"/>
    <p:sldId id="1150" r:id="rId18"/>
    <p:sldId id="1148" r:id="rId19"/>
    <p:sldId id="1143" r:id="rId20"/>
    <p:sldId id="1139" r:id="rId21"/>
    <p:sldId id="1141" r:id="rId22"/>
    <p:sldId id="1136" r:id="rId23"/>
    <p:sldId id="1142" r:id="rId24"/>
    <p:sldId id="114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F8C5BE-A2FD-B1F5-2C91-4CD84E51F870}" name="Alexis Amoyo" initials="AA" userId="S::alexis.amoyo@coderogres.com::ef281a08-ebd8-413a-a7f9-a30b6e15c60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D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9" autoAdjust="0"/>
    <p:restoredTop sz="83220" autoAdjust="0"/>
  </p:normalViewPr>
  <p:slideViewPr>
    <p:cSldViewPr snapToGrid="0">
      <p:cViewPr varScale="1">
        <p:scale>
          <a:sx n="80" d="100"/>
          <a:sy n="80" d="100"/>
        </p:scale>
        <p:origin x="9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46A_A72EFE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1E15B3-AA91-4921-B037-03C35845A040}" authorId="{18F8C5BE-A2FD-B1F5-2C91-4CD84E51F870}" created="2025-05-23T20:23:22.145">
    <pc:sldMkLst xmlns:pc="http://schemas.microsoft.com/office/powerpoint/2013/main/command">
      <pc:docMk/>
      <pc:sldMk cId="2804874871" sldId="1130"/>
    </pc:sldMkLst>
    <p188:txBody>
      <a:bodyPr/>
      <a:lstStyle/>
      <a:p>
        <a:r>
          <a:rPr lang="en-US"/>
          <a:t>You can make the text like this larger. Also for the other slides that have the text like this. Maybe put it in a text box to emphasize it better?</a:t>
        </a:r>
      </a:p>
    </p188:txBody>
  </p188:cm>
</p188:cmLst>
</file>

<file path=ppt/comments/modernComment_46B_33BC4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7B687D-604A-4B94-9014-6921A2E3C22D}" authorId="{18F8C5BE-A2FD-B1F5-2C91-4CD84E51F870}" created="2025-05-23T20:23:40.068">
    <pc:sldMkLst xmlns:pc="http://schemas.microsoft.com/office/powerpoint/2013/main/command">
      <pc:docMk/>
      <pc:sldMk cId="54248547" sldId="1131"/>
    </pc:sldMkLst>
    <p188:txBody>
      <a:bodyPr/>
      <a:lstStyle/>
      <a:p>
        <a:r>
          <a:rPr lang="en-US"/>
          <a:t>You can make the text like this larger. Also for the other slides that have the text like this. Maybe put it in a text box to emphasize it better?</a:t>
        </a:r>
      </a:p>
    </p188:txBody>
  </p188:cm>
</p188:cmLst>
</file>

<file path=ppt/comments/modernComment_46C_873E3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646B4B7-451D-4DD9-9EE9-2739CE1D1579}" authorId="{18F8C5BE-A2FD-B1F5-2C91-4CD84E51F870}" created="2025-05-23T20:23:50.677">
    <pc:sldMkLst xmlns:pc="http://schemas.microsoft.com/office/powerpoint/2013/main/command">
      <pc:docMk/>
      <pc:sldMk cId="2269002356" sldId="1132"/>
    </pc:sldMkLst>
    <p188:txBody>
      <a:bodyPr/>
      <a:lstStyle/>
      <a:p>
        <a:r>
          <a:rPr lang="en-US"/>
          <a:t>You can make the text like this larger. Also for the other slides that have the text like this. Maybe put it in a text box to emphasize it better?</a:t>
        </a:r>
      </a:p>
    </p188:txBody>
  </p188:cm>
</p188:cmLst>
</file>

<file path=ppt/comments/modernComment_46E_BC79CF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E0FEAE-B361-4FDD-BCD8-97A5A5190787}" authorId="{18F8C5BE-A2FD-B1F5-2C91-4CD84E51F870}" created="2025-05-23T20:23:55.380">
    <pc:sldMkLst xmlns:pc="http://schemas.microsoft.com/office/powerpoint/2013/main/command">
      <pc:docMk/>
      <pc:sldMk cId="3162099651" sldId="1134"/>
    </pc:sldMkLst>
    <p188:txBody>
      <a:bodyPr/>
      <a:lstStyle/>
      <a:p>
        <a:r>
          <a:rPr lang="en-US"/>
          <a:t>You can make the text like this larger. Also for the other slides that have the text like this. Maybe put it in a text box to emphasize it better?</a:t>
        </a:r>
      </a:p>
    </p188:txBody>
  </p188:cm>
</p188:cmLst>
</file>

<file path=ppt/comments/modernComment_466_71B806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3D9BDB9-3057-4457-8D65-C609873A5F0D}" authorId="{18F8C5BE-A2FD-B1F5-2C91-4CD84E51F870}" created="2025-05-23T20:20:53.4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07885796" sldId="1126"/>
      <ac:picMk id="6" creationId="{C74589D0-56D0-8E67-6467-FFD8DBB20372}"/>
    </ac:deMkLst>
    <p188:txBody>
      <a:bodyPr/>
      <a:lstStyle/>
      <a:p>
        <a:r>
          <a:rPr lang="en-US"/>
          <a:t>Cite icon?</a:t>
        </a:r>
      </a:p>
    </p188:txBody>
  </p188:cm>
</p188:cmLst>
</file>

<file path=ppt/comments/modernComment_471_7B1D7A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25DBE7-55B8-4BD1-B0A3-AA4E5FD6092D}" authorId="{18F8C5BE-A2FD-B1F5-2C91-4CD84E51F870}" created="2025-05-23T20:23:35.364">
    <pc:sldMkLst xmlns:pc="http://schemas.microsoft.com/office/powerpoint/2013/main/command">
      <pc:docMk/>
      <pc:sldMk cId="2065529379" sldId="1137"/>
    </pc:sldMkLst>
    <p188:txBody>
      <a:bodyPr/>
      <a:lstStyle/>
      <a:p>
        <a:r>
          <a:rPr lang="en-US"/>
          <a:t>You can make the text like this larger. Also for the other slides that have the text like this. Maybe put it in a text box to emphasize it better?</a:t>
        </a:r>
      </a:p>
    </p188:txBody>
  </p188:cm>
</p188:cmLst>
</file>

<file path=ppt/comments/modernComment_473_7E78E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1AF770-2160-4053-816E-33D22BFE4F1B}" authorId="{18F8C5BE-A2FD-B1F5-2C91-4CD84E51F870}" created="2025-05-23T20:26:37.835">
    <pc:sldMkLst xmlns:pc="http://schemas.microsoft.com/office/powerpoint/2013/main/command">
      <pc:docMk/>
      <pc:sldMk cId="132615906" sldId="1139"/>
    </pc:sldMkLst>
    <p188:txBody>
      <a:bodyPr/>
      <a:lstStyle/>
      <a:p>
        <a:r>
          <a:rPr lang="en-US"/>
          <a:t>Missing a title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E6F6B-C407-4C77-A151-3239611521F7}" type="datetimeFigureOut">
              <a:rPr lang="en-IN" smtClean="0"/>
              <a:t>17-07-2025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538A9-AE4E-4F2E-94D1-11D67C67B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3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6401-B720-7B27-B0CA-BF9C7168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660681-7784-C666-7114-D895401E9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8DF1C-5726-B8A2-3A3C-01C2A0C9C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C018C-C690-2B28-EC0C-DA92340E5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956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2C9E-B302-C1B9-0C0F-22BFCE89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ECE49-FD6D-A9E1-D86E-DFDCB1CEA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7515B-722B-B9D3-B7ED-67316D3AA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Shopping list&lt;a </a:t>
            </a:r>
            <a:r>
              <a:rPr lang="en-US" dirty="0" err="1"/>
              <a:t>href</a:t>
            </a:r>
            <a:r>
              <a:rPr lang="en-US" dirty="0"/>
              <a:t>="https://www.flaticon.com/free-icons/shopping-list" title="shopping list icons"&gt;Shopping list icons created by </a:t>
            </a:r>
            <a:r>
              <a:rPr lang="en-US" dirty="0" err="1"/>
              <a:t>surang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C7E4E-3E28-B87C-7C72-188154C27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6824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7AB53-2E87-BCBC-3DD3-5FEB8D30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CD9FF-6354-9CE6-538C-02400B55C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7F262-7F19-E44D-F5EA-002D21C92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Piyush: spell check mangoes. “cereals” – “bananas”?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EFC7D-3EFC-8690-D9FB-24325D0D5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662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F5C2-9152-2756-5BEC-020219B7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C9757-E336-FCD5-20CD-765EF6058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85231-BB95-8000-87D9-B43B5BE76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CB009-20D4-747A-8E2C-232B5E9A7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2767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8F24B-A854-1268-7AFA-9C66F746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8077A-92C1-035C-5295-56D5FE0D7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77B65-4BDD-1C53-B5EE-CF6354C38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B652A-0A81-1DFC-15D2-71507C4A3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0009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08CA-D913-250E-FC38-4493F802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C55EB-CFDF-4F38-0BB5-8CCC49FF2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AB8EF-3CE6-32CA-2219-046178A5B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F7B4A-9C5D-0690-C3F0-FB12B4DE9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1808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5DF9-EA30-C727-1239-1AFBB3FA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EBA13-1675-92BA-D822-1485DE07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519A3-C167-D02D-AF08-F0629DECC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Piyush: Needs a table for formatting and beautification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9: same feedback as slide 7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10: same feedback as slide 7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12: same feedback as slide 7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13: same feedback as slide 7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14: slide 14 is a duplicate of slide 11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20: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Doesnt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 title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BBFC6-E43D-C1B9-3FB1-DF454FED2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08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8E1AF-BA8E-622E-080F-E142E388B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9D035-C2D8-2D76-7BAF-5A5810AF8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0E75E-31A9-6C9F-0E4A-FC8ADEF9B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15CD9-EE48-91DD-49ED-35BBF8ECB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0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B9A8-6430-8910-2D99-2113FE8F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1AEE6-5927-C8AF-76D2-41CC5E50F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58B86-54DD-46AC-EC5B-DAC6AB272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icon is built into PowerPoint as a free stock resource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8E219-CD41-5904-27CC-A4134667F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476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E7A4C-9BCA-E7DD-23D2-F552CCE7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C4DCB-4462-AB1E-5F8E-71A396A2C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3001D-F0C1-2D93-7657-38DE54D20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Link Icon from free Microsoft stock icons built into </a:t>
            </a:r>
            <a:r>
              <a:rPr lang="en-US" dirty="0" err="1"/>
              <a:t>powerpoint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Doorbell icon: https://www.flaticon.com/free-icon/doorbell_9216132?term=doorbell&amp;page=1&amp;position=4&amp;origin=search&amp;related_id=9216132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button icon: https://www.flaticon.com/free-icon/light-switch_890979?term=light+switch&amp;page=1&amp;position=10&amp;origin=search&amp;related_id=890979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Wire icon: https://www.flaticon.com/free-icon/wire_3355265?term=electrical+wires&amp;page=1&amp;position=51&amp;origin=search&amp;related_id=3355265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0AE84-E66B-203A-5ADD-90DEDDDDD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4931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71CA-EE2E-5A42-AE62-9C4CE152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27DC4-1041-78F8-E79D-854DE7233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F377E-FB4C-00FD-A38A-287C56F17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Two icon: https://www.flaticon.com/free-icon/2_3570100?term=two&amp;page=1&amp;position=9&amp;origin=search&amp;related_id=3570100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Anchor icon: https://www.flaticon.com/free-icon/anchor_4287284?term=anchor&amp;page=1&amp;position=6&amp;origin=search&amp;related_id=4287284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Warning icon: https://www.flaticon.com/free-icon/warning_3756712?term=warning&amp;page=1&amp;position=8&amp;origin=search&amp;related_id=3756712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6B48B-DE55-D628-F3E9-909F9D0BE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7736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2B6E-EDBD-4D2A-3D01-D6CBEB22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4CD17-41B8-6423-A67C-6B0B53605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AA860-A189-79DA-6BE4-E8BA430B0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F298A-20DE-5BFD-1906-F500CBBFE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785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4E88-7E5C-3480-3F27-F14493B8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7B7D8-FA50-90C6-FE0C-1D631C126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CC970-60AC-69E4-2396-1E29E977E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80782-4F51-7672-A632-A1E448465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2416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B557-A494-769A-E7C4-50A61911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F64E5-9279-35E1-19F7-24FA432E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3EC9D-77B6-B089-399A-506173570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0AA85-02A8-4BB1-5681-C20666752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253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6E014-A4DF-A203-26EE-11D7BC34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610C5-B94B-B52E-1929-A6CE35D1D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71C83-0D8C-FB46-2BF0-0BA82B23A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="https://www.flaticon.com/free-icons/box" title="box icons"&gt;Box icons created by </a:t>
            </a:r>
            <a:r>
              <a:rPr lang="en-US" dirty="0" err="1"/>
              <a:t>Freepik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B735D-6CDB-65A2-FB03-86F61D9AD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986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42A5-7E59-855A-6B4E-41BC8146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B9C7B-EF29-E3CE-BF0A-4A7E632F0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865F3-5CF1-78CC-75DF-9B99FD821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&lt;!DOCTYPE html&gt;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&lt;html&gt;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&lt;head&gt;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&lt;title&gt;Image Button Example&lt;/title&gt;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&lt;/head&gt;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&lt;body&gt;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&lt;div&gt;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&lt;a </a:t>
            </a:r>
            <a:r>
              <a:rPr lang="en-US" dirty="0" err="1"/>
              <a:t>href</a:t>
            </a:r>
            <a:r>
              <a:rPr lang="en-US" dirty="0"/>
              <a:t>="https://www.coderogres.com"&gt;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="https://i.postimg.cc/7YfPXF38/frame.jpg" alt="QR Code"&gt;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&lt;/a&gt;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&lt;/div&gt;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&lt;/body&gt;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5FB99-58E6-EBCE-61A5-21B53A3F9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109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5A69-239F-AF91-1367-AAC9D6E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5EDC5-C81A-DF88-31CA-B73E5FBAC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ED743-3F5A-C447-9B76-6D1D8A552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="https://www.flaticon.com/free-icons/box" title="box icons"&gt;Box icons created by </a:t>
            </a:r>
            <a:r>
              <a:rPr lang="en-US" dirty="0" err="1"/>
              <a:t>Freepik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920E-74A6-DEE3-9C36-2652BA47E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628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9043-CE44-FF93-11AC-E01134A3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3FCDE-6D1E-6C7D-3AB9-8ABB22287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50166-3373-8228-7FD6-7B3E5119B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Code: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&lt;!DOCTYPE html&gt;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&lt;html&gt;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&lt;head&gt;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&lt;title&gt;Span Tag Story&lt;/title&gt;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&lt;/head&gt;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&lt;body&gt;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&lt;p&gt;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&lt;span&gt;Alice&lt;/span&gt; went to the park with her friend &lt;span&gt;Bob&lt;/span&gt;.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They saw a squirrel near the &lt;span&gt;Maple Tree&lt;/span&gt; and laughed together.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&lt;/p&gt;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&lt;p&gt;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Later, &lt;span&gt;Alice&lt;/span&gt; and &lt;span&gt;Bob&lt;/span&gt; bought ice cream from a vendor named &lt;span&gt;Mr. Smith&lt;/span&gt;.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&lt;/p&gt;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&lt;p&gt;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&lt;strong&gt;Task:&lt;/strong&gt; Try adding more `&lt;span&gt;` tags around other names, places, or objects in your own sentences.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&lt;/p&gt;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&lt;/body&gt;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&lt;/html&gt;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FA071-D65A-B83A-4E49-77CF46E79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6121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7777-8C07-40E4-A98B-02DF0525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249A9-E8C9-0E83-7106-A1CA2D947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1E0F9-A4A8-293B-2666-D34B253F5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7AA11-6740-096D-63F0-851008BDE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5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3AD2-1F19-7F9A-4C2E-D602BDEF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09442-D03E-4C6B-400C-6598F5B08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17969-B847-C601-609D-881983B88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48F6E-4E15-2DE1-8AF2-01DA02BA6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357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E059-BCAE-B274-747A-06BE98362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4C6B5-FF94-70DF-DFE1-A5BC413E6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6B801-E2F5-1567-91FF-347D61840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99569-1491-FB23-A41D-4489C158B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0550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Organised</a:t>
            </a:r>
            <a:r>
              <a:rPr lang="en-US" dirty="0"/>
              <a:t> structure of the content- Content structure is clearly understood as each semantic tag is self descriptive. Maintenance is less. SEO friendly . Lesser creation of classes and id’s</a:t>
            </a:r>
          </a:p>
          <a:p>
            <a:r>
              <a:rPr lang="en-US" dirty="0" err="1"/>
              <a:t>Accessibilty</a:t>
            </a:r>
            <a:r>
              <a:rPr lang="en-US" dirty="0"/>
              <a:t>- Screen readers can communicate the data effectively to people with disabilities.</a:t>
            </a:r>
          </a:p>
          <a:p>
            <a:r>
              <a:rPr lang="en-US" dirty="0"/>
              <a:t>Browser friendly- As structure of the page is designed using standard HTML tags , web pages will be uniform in every browser.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538A9-AE4E-4F2E-94D1-11D67C67B740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349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4CD3-E4B5-E985-8CA9-349D8F1D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937D7-3D1A-D802-8EC8-DDB0F0C67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7A835-A0E9-7A0F-6423-4333E354D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="https://www.flaticon.com/free-icons/novelty" title="novelty icons"&gt;Novelty icons created by </a:t>
            </a:r>
            <a:r>
              <a:rPr lang="en-US" dirty="0" err="1"/>
              <a:t>bsd</a:t>
            </a:r>
            <a:r>
              <a:rPr lang="en-US" dirty="0"/>
              <a:t> - </a:t>
            </a:r>
            <a:r>
              <a:rPr lang="en-US" dirty="0" err="1"/>
              <a:t>Flaticon</a:t>
            </a:r>
            <a:r>
              <a:rPr lang="en-US" dirty="0"/>
              <a:t>&lt;/a&gt;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97CCD-D398-EB30-9D65-D868F40D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CC0408-104F-49D3-BDE0-007B506EF5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4639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ctrTitle"/>
          </p:nvPr>
        </p:nvSpPr>
        <p:spPr>
          <a:xfrm>
            <a:off x="805596" y="1548067"/>
            <a:ext cx="10580808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8000" b="0">
                <a:solidFill>
                  <a:srgbClr val="FFD0A1"/>
                </a:solidFill>
                <a:latin typeface="+mj-lt"/>
                <a:cs typeface="Arial" panose="020B0604020202020204" pitchFamily="34" charset="0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6400" b="0"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3" name="Google Shape;163;p2"/>
          <p:cNvSpPr/>
          <p:nvPr/>
        </p:nvSpPr>
        <p:spPr>
          <a:xfrm>
            <a:off x="964924" y="5626789"/>
            <a:ext cx="1059833" cy="1314316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77759" y="4071050"/>
            <a:ext cx="1042685" cy="1187141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244C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75A5E"/>
              </a:solidFill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5366802" y="4563227"/>
            <a:ext cx="494487" cy="1079451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4104061" y="4171139"/>
            <a:ext cx="974228" cy="1194415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7202197" y="4380950"/>
            <a:ext cx="1074579" cy="1001117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11152612" y="4462457"/>
            <a:ext cx="1165056" cy="800347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6068155" y="4167387"/>
            <a:ext cx="876277" cy="905636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5893176" y="5326446"/>
            <a:ext cx="1226241" cy="1267877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244C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75A5E"/>
              </a:solidFill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3526550" y="5382051"/>
            <a:ext cx="1187141" cy="942400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2822057" y="4248209"/>
            <a:ext cx="1106340" cy="1040217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796482" y="4248196"/>
            <a:ext cx="798861" cy="94241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3575486" y="6418078"/>
            <a:ext cx="1089259" cy="41862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9528562" y="6011685"/>
            <a:ext cx="1387845" cy="974160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9528573" y="4139243"/>
            <a:ext cx="912976" cy="9619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7016276" y="6306021"/>
            <a:ext cx="700061" cy="496888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11168496" y="6305415"/>
            <a:ext cx="678043" cy="433301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5078289" y="5905768"/>
            <a:ext cx="761247" cy="75637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10633855" y="4071030"/>
            <a:ext cx="722080" cy="905703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2094380" y="5371060"/>
            <a:ext cx="979099" cy="964419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244C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75A5E"/>
              </a:solidFill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329414" y="5459834"/>
            <a:ext cx="367245" cy="325609"/>
          </a:xfrm>
          <a:custGeom>
            <a:avLst/>
            <a:gdLst/>
            <a:ahLst/>
            <a:cxnLst/>
            <a:rect l="l" t="t" r="r" b="b"/>
            <a:pathLst>
              <a:path w="5504" h="4880" extrusionOk="0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11355925" y="5443846"/>
            <a:ext cx="920315" cy="680511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1146284" y="4556591"/>
            <a:ext cx="423493" cy="878680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5" name="Google Shape;185;p2"/>
          <p:cNvSpPr/>
          <p:nvPr/>
        </p:nvSpPr>
        <p:spPr>
          <a:xfrm rot="1920742">
            <a:off x="7609385" y="5618652"/>
            <a:ext cx="1179729" cy="1001112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6" name="Google Shape;186;p2"/>
          <p:cNvSpPr/>
          <p:nvPr/>
        </p:nvSpPr>
        <p:spPr>
          <a:xfrm rot="-3496844">
            <a:off x="154452" y="6012747"/>
            <a:ext cx="717136" cy="619253"/>
          </a:xfrm>
          <a:custGeom>
            <a:avLst/>
            <a:gdLst/>
            <a:ahLst/>
            <a:cxnLst/>
            <a:rect l="l" t="t" r="r" b="b"/>
            <a:pathLst>
              <a:path w="10748" h="9281" extrusionOk="0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10024246" y="5288439"/>
            <a:ext cx="1128359" cy="797944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244C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75A5E"/>
              </a:solidFill>
            </a:endParaRPr>
          </a:p>
        </p:txBody>
      </p:sp>
      <p:sp>
        <p:nvSpPr>
          <p:cNvPr id="188" name="Google Shape;188;p2"/>
          <p:cNvSpPr/>
          <p:nvPr/>
        </p:nvSpPr>
        <p:spPr>
          <a:xfrm rot="-5400000">
            <a:off x="8662393" y="4028588"/>
            <a:ext cx="658425" cy="84204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244C4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375A5E"/>
              </a:solidFill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8604273" y="4941210"/>
            <a:ext cx="888488" cy="1003585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2488015" y="6323840"/>
            <a:ext cx="908104" cy="607049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8893073" y="6152528"/>
            <a:ext cx="411283" cy="440641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75A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72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6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549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4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523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7" name="Google Shape;293;p5">
            <a:extLst>
              <a:ext uri="{FF2B5EF4-FFF2-40B4-BE49-F238E27FC236}">
                <a16:creationId xmlns:a16="http://schemas.microsoft.com/office/drawing/2014/main" id="{54BDBE42-40E3-4F6C-841D-251F9551D406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38" name="Google Shape;294;p5">
              <a:extLst>
                <a:ext uri="{FF2B5EF4-FFF2-40B4-BE49-F238E27FC236}">
                  <a16:creationId xmlns:a16="http://schemas.microsoft.com/office/drawing/2014/main" id="{66E9B643-6FAC-4323-98C4-5ACA2DC4AE0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9" name="Google Shape;295;p5">
              <a:extLst>
                <a:ext uri="{FF2B5EF4-FFF2-40B4-BE49-F238E27FC236}">
                  <a16:creationId xmlns:a16="http://schemas.microsoft.com/office/drawing/2014/main" id="{35592297-D3D6-48AE-BEFC-3861C6C20BB6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0" name="Google Shape;296;p5">
              <a:extLst>
                <a:ext uri="{FF2B5EF4-FFF2-40B4-BE49-F238E27FC236}">
                  <a16:creationId xmlns:a16="http://schemas.microsoft.com/office/drawing/2014/main" id="{EEB6D149-1556-4B2E-AB6A-ADE699C535E7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1" name="Google Shape;297;p5">
              <a:extLst>
                <a:ext uri="{FF2B5EF4-FFF2-40B4-BE49-F238E27FC236}">
                  <a16:creationId xmlns:a16="http://schemas.microsoft.com/office/drawing/2014/main" id="{3F33B5F3-6141-4D9C-BFF0-B392ABDF021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2" name="Google Shape;298;p5">
              <a:extLst>
                <a:ext uri="{FF2B5EF4-FFF2-40B4-BE49-F238E27FC236}">
                  <a16:creationId xmlns:a16="http://schemas.microsoft.com/office/drawing/2014/main" id="{D203D9D2-5D0A-4088-814A-6CEA6DB0E0F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3" name="Google Shape;299;p5">
              <a:extLst>
                <a:ext uri="{FF2B5EF4-FFF2-40B4-BE49-F238E27FC236}">
                  <a16:creationId xmlns:a16="http://schemas.microsoft.com/office/drawing/2014/main" id="{74BB0A76-92F3-43E4-8802-35AC1D0474E2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4" name="Google Shape;300;p5">
              <a:extLst>
                <a:ext uri="{FF2B5EF4-FFF2-40B4-BE49-F238E27FC236}">
                  <a16:creationId xmlns:a16="http://schemas.microsoft.com/office/drawing/2014/main" id="{90463B7C-169F-40BD-83E9-2122585699A7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5" name="Google Shape;301;p5">
              <a:extLst>
                <a:ext uri="{FF2B5EF4-FFF2-40B4-BE49-F238E27FC236}">
                  <a16:creationId xmlns:a16="http://schemas.microsoft.com/office/drawing/2014/main" id="{7B2C9771-C7BB-46C9-9088-BC803B20A94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6" name="Google Shape;302;p5">
              <a:extLst>
                <a:ext uri="{FF2B5EF4-FFF2-40B4-BE49-F238E27FC236}">
                  <a16:creationId xmlns:a16="http://schemas.microsoft.com/office/drawing/2014/main" id="{BCD0B44C-BB81-4F47-89C7-710B8A4F57F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7" name="Google Shape;303;p5">
              <a:extLst>
                <a:ext uri="{FF2B5EF4-FFF2-40B4-BE49-F238E27FC236}">
                  <a16:creationId xmlns:a16="http://schemas.microsoft.com/office/drawing/2014/main" id="{6FE430A8-4685-4660-84EE-98FECF0A178E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8" name="Google Shape;304;p5">
              <a:extLst>
                <a:ext uri="{FF2B5EF4-FFF2-40B4-BE49-F238E27FC236}">
                  <a16:creationId xmlns:a16="http://schemas.microsoft.com/office/drawing/2014/main" id="{F34DAF67-4050-489C-8EA1-C47C9D8299F0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9" name="Google Shape;305;p5">
              <a:extLst>
                <a:ext uri="{FF2B5EF4-FFF2-40B4-BE49-F238E27FC236}">
                  <a16:creationId xmlns:a16="http://schemas.microsoft.com/office/drawing/2014/main" id="{7F9B4324-FE4B-46AA-B1FA-F80E82F71198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0" name="Google Shape;306;p5">
              <a:extLst>
                <a:ext uri="{FF2B5EF4-FFF2-40B4-BE49-F238E27FC236}">
                  <a16:creationId xmlns:a16="http://schemas.microsoft.com/office/drawing/2014/main" id="{858354B7-6DBC-4D09-8DD5-9B860AFEE789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1" name="Google Shape;307;p5">
              <a:extLst>
                <a:ext uri="{FF2B5EF4-FFF2-40B4-BE49-F238E27FC236}">
                  <a16:creationId xmlns:a16="http://schemas.microsoft.com/office/drawing/2014/main" id="{DA625892-EC39-4C8F-A40C-7B3930626C76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2" name="Google Shape;308;p5">
              <a:extLst>
                <a:ext uri="{FF2B5EF4-FFF2-40B4-BE49-F238E27FC236}">
                  <a16:creationId xmlns:a16="http://schemas.microsoft.com/office/drawing/2014/main" id="{67CCF9F0-4AFD-442E-9E09-8E90BF1278FA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3" name="Google Shape;309;p5">
              <a:extLst>
                <a:ext uri="{FF2B5EF4-FFF2-40B4-BE49-F238E27FC236}">
                  <a16:creationId xmlns:a16="http://schemas.microsoft.com/office/drawing/2014/main" id="{6BC26ED3-D3E2-4545-8776-D97BEAEE735F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4" name="Google Shape;310;p5">
              <a:extLst>
                <a:ext uri="{FF2B5EF4-FFF2-40B4-BE49-F238E27FC236}">
                  <a16:creationId xmlns:a16="http://schemas.microsoft.com/office/drawing/2014/main" id="{5A383DC0-9873-4D2D-A33A-05FE168F9BE9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5" name="Google Shape;311;p5">
              <a:extLst>
                <a:ext uri="{FF2B5EF4-FFF2-40B4-BE49-F238E27FC236}">
                  <a16:creationId xmlns:a16="http://schemas.microsoft.com/office/drawing/2014/main" id="{B7F30F45-4AFC-427C-B83D-FEB17C1E7C4D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6" name="Google Shape;312;p5">
              <a:extLst>
                <a:ext uri="{FF2B5EF4-FFF2-40B4-BE49-F238E27FC236}">
                  <a16:creationId xmlns:a16="http://schemas.microsoft.com/office/drawing/2014/main" id="{C82542C3-5C1E-4EDD-8EB3-37686C29AF2A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7" name="Google Shape;313;p5">
              <a:extLst>
                <a:ext uri="{FF2B5EF4-FFF2-40B4-BE49-F238E27FC236}">
                  <a16:creationId xmlns:a16="http://schemas.microsoft.com/office/drawing/2014/main" id="{56D63C3D-5A7C-4476-B8FB-D4BC12007E29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8" name="Google Shape;314;p5">
              <a:extLst>
                <a:ext uri="{FF2B5EF4-FFF2-40B4-BE49-F238E27FC236}">
                  <a16:creationId xmlns:a16="http://schemas.microsoft.com/office/drawing/2014/main" id="{5B165CDE-275A-452F-BC67-E69AE00D5833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9" name="Google Shape;315;p5">
              <a:extLst>
                <a:ext uri="{FF2B5EF4-FFF2-40B4-BE49-F238E27FC236}">
                  <a16:creationId xmlns:a16="http://schemas.microsoft.com/office/drawing/2014/main" id="{56F87171-DEA2-4ABF-8B18-FB21C185C31B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0" name="Google Shape;316;p5">
              <a:extLst>
                <a:ext uri="{FF2B5EF4-FFF2-40B4-BE49-F238E27FC236}">
                  <a16:creationId xmlns:a16="http://schemas.microsoft.com/office/drawing/2014/main" id="{27B1906B-B5A9-4BA8-A2E2-31DAB3706AC0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1" name="Google Shape;317;p5">
              <a:extLst>
                <a:ext uri="{FF2B5EF4-FFF2-40B4-BE49-F238E27FC236}">
                  <a16:creationId xmlns:a16="http://schemas.microsoft.com/office/drawing/2014/main" id="{1D30F440-D835-4830-BF9E-F6F88156A4C8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2" name="Google Shape;318;p5">
              <a:extLst>
                <a:ext uri="{FF2B5EF4-FFF2-40B4-BE49-F238E27FC236}">
                  <a16:creationId xmlns:a16="http://schemas.microsoft.com/office/drawing/2014/main" id="{6B4E0F55-E580-404D-9B42-15273B1F0AEE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3" name="Google Shape;319;p5">
              <a:extLst>
                <a:ext uri="{FF2B5EF4-FFF2-40B4-BE49-F238E27FC236}">
                  <a16:creationId xmlns:a16="http://schemas.microsoft.com/office/drawing/2014/main" id="{1164A904-8445-4C1B-9C60-748D80419CCD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4" name="Google Shape;320;p5">
              <a:extLst>
                <a:ext uri="{FF2B5EF4-FFF2-40B4-BE49-F238E27FC236}">
                  <a16:creationId xmlns:a16="http://schemas.microsoft.com/office/drawing/2014/main" id="{C044FB15-C13A-458D-8E2A-ED5B7D71CDA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5" name="Google Shape;321;p5">
              <a:extLst>
                <a:ext uri="{FF2B5EF4-FFF2-40B4-BE49-F238E27FC236}">
                  <a16:creationId xmlns:a16="http://schemas.microsoft.com/office/drawing/2014/main" id="{FF96102C-CE7A-460D-B55D-F84A5C5C929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6" name="Google Shape;322;p5">
              <a:extLst>
                <a:ext uri="{FF2B5EF4-FFF2-40B4-BE49-F238E27FC236}">
                  <a16:creationId xmlns:a16="http://schemas.microsoft.com/office/drawing/2014/main" id="{8CE04487-6205-47D8-9D32-0F05753E1516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grpSp>
        <p:nvGrpSpPr>
          <p:cNvPr id="70" name="Google Shape;293;p5">
            <a:extLst>
              <a:ext uri="{FF2B5EF4-FFF2-40B4-BE49-F238E27FC236}">
                <a16:creationId xmlns:a16="http://schemas.microsoft.com/office/drawing/2014/main" id="{CDE3D61C-CDED-4963-BA79-8EC0AC1EFFBC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1" name="Google Shape;294;p5">
              <a:extLst>
                <a:ext uri="{FF2B5EF4-FFF2-40B4-BE49-F238E27FC236}">
                  <a16:creationId xmlns:a16="http://schemas.microsoft.com/office/drawing/2014/main" id="{494FA09B-BB20-4F29-B3E6-B7C34014E0A5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2" name="Google Shape;295;p5">
              <a:extLst>
                <a:ext uri="{FF2B5EF4-FFF2-40B4-BE49-F238E27FC236}">
                  <a16:creationId xmlns:a16="http://schemas.microsoft.com/office/drawing/2014/main" id="{7B640E5D-809D-4931-86D2-D4FAFF8E8B1F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3" name="Google Shape;296;p5">
              <a:extLst>
                <a:ext uri="{FF2B5EF4-FFF2-40B4-BE49-F238E27FC236}">
                  <a16:creationId xmlns:a16="http://schemas.microsoft.com/office/drawing/2014/main" id="{44E5319D-E31F-466A-AC4B-66A0E8C227D1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4" name="Google Shape;297;p5">
              <a:extLst>
                <a:ext uri="{FF2B5EF4-FFF2-40B4-BE49-F238E27FC236}">
                  <a16:creationId xmlns:a16="http://schemas.microsoft.com/office/drawing/2014/main" id="{ED890F01-10B6-4EF6-B9FC-67318C49FCB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5" name="Google Shape;298;p5">
              <a:extLst>
                <a:ext uri="{FF2B5EF4-FFF2-40B4-BE49-F238E27FC236}">
                  <a16:creationId xmlns:a16="http://schemas.microsoft.com/office/drawing/2014/main" id="{EC63B16A-234F-4A54-83DE-C2229CA153A2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6" name="Google Shape;299;p5">
              <a:extLst>
                <a:ext uri="{FF2B5EF4-FFF2-40B4-BE49-F238E27FC236}">
                  <a16:creationId xmlns:a16="http://schemas.microsoft.com/office/drawing/2014/main" id="{049A4857-2C93-4ECC-9659-5F5F270E1B8D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7" name="Google Shape;300;p5">
              <a:extLst>
                <a:ext uri="{FF2B5EF4-FFF2-40B4-BE49-F238E27FC236}">
                  <a16:creationId xmlns:a16="http://schemas.microsoft.com/office/drawing/2014/main" id="{4529F50E-F03E-4423-B32D-02237EFE094F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8" name="Google Shape;301;p5">
              <a:extLst>
                <a:ext uri="{FF2B5EF4-FFF2-40B4-BE49-F238E27FC236}">
                  <a16:creationId xmlns:a16="http://schemas.microsoft.com/office/drawing/2014/main" id="{26465B18-38CC-4D66-8B36-8AE718A8A6F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9" name="Google Shape;302;p5">
              <a:extLst>
                <a:ext uri="{FF2B5EF4-FFF2-40B4-BE49-F238E27FC236}">
                  <a16:creationId xmlns:a16="http://schemas.microsoft.com/office/drawing/2014/main" id="{955D4038-4981-4499-AF08-CBA931DF4E7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0" name="Google Shape;303;p5">
              <a:extLst>
                <a:ext uri="{FF2B5EF4-FFF2-40B4-BE49-F238E27FC236}">
                  <a16:creationId xmlns:a16="http://schemas.microsoft.com/office/drawing/2014/main" id="{BC196BA2-19D7-4FBD-89F6-07BC62432395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1" name="Google Shape;304;p5">
              <a:extLst>
                <a:ext uri="{FF2B5EF4-FFF2-40B4-BE49-F238E27FC236}">
                  <a16:creationId xmlns:a16="http://schemas.microsoft.com/office/drawing/2014/main" id="{21DE9610-C560-4F22-946A-0E99295DCAD9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2" name="Google Shape;305;p5">
              <a:extLst>
                <a:ext uri="{FF2B5EF4-FFF2-40B4-BE49-F238E27FC236}">
                  <a16:creationId xmlns:a16="http://schemas.microsoft.com/office/drawing/2014/main" id="{88DAE264-72FE-49C3-92CA-C4E22CFD667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3" name="Google Shape;306;p5">
              <a:extLst>
                <a:ext uri="{FF2B5EF4-FFF2-40B4-BE49-F238E27FC236}">
                  <a16:creationId xmlns:a16="http://schemas.microsoft.com/office/drawing/2014/main" id="{38907BB3-F232-4E38-B159-FB6D2CA6E755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4" name="Google Shape;307;p5">
              <a:extLst>
                <a:ext uri="{FF2B5EF4-FFF2-40B4-BE49-F238E27FC236}">
                  <a16:creationId xmlns:a16="http://schemas.microsoft.com/office/drawing/2014/main" id="{1CDAD999-4B33-4B81-A1B6-59C6EE935E05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5" name="Google Shape;308;p5">
              <a:extLst>
                <a:ext uri="{FF2B5EF4-FFF2-40B4-BE49-F238E27FC236}">
                  <a16:creationId xmlns:a16="http://schemas.microsoft.com/office/drawing/2014/main" id="{634D8B8E-87FB-4B4C-ADAA-7193446D520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6" name="Google Shape;309;p5">
              <a:extLst>
                <a:ext uri="{FF2B5EF4-FFF2-40B4-BE49-F238E27FC236}">
                  <a16:creationId xmlns:a16="http://schemas.microsoft.com/office/drawing/2014/main" id="{A84278D9-55A7-43CB-80E4-4915603F39C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7" name="Google Shape;310;p5">
              <a:extLst>
                <a:ext uri="{FF2B5EF4-FFF2-40B4-BE49-F238E27FC236}">
                  <a16:creationId xmlns:a16="http://schemas.microsoft.com/office/drawing/2014/main" id="{F4D02316-4EAF-4A18-88B3-3E4CD47FA8F1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8" name="Google Shape;311;p5">
              <a:extLst>
                <a:ext uri="{FF2B5EF4-FFF2-40B4-BE49-F238E27FC236}">
                  <a16:creationId xmlns:a16="http://schemas.microsoft.com/office/drawing/2014/main" id="{3767F723-1A01-4C3A-BECF-39DE99B6571F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9" name="Google Shape;312;p5">
              <a:extLst>
                <a:ext uri="{FF2B5EF4-FFF2-40B4-BE49-F238E27FC236}">
                  <a16:creationId xmlns:a16="http://schemas.microsoft.com/office/drawing/2014/main" id="{F5A60277-3B49-45CE-BF82-8E40751369E0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0" name="Google Shape;313;p5">
              <a:extLst>
                <a:ext uri="{FF2B5EF4-FFF2-40B4-BE49-F238E27FC236}">
                  <a16:creationId xmlns:a16="http://schemas.microsoft.com/office/drawing/2014/main" id="{40DE02EA-FE0E-4C3C-BC4C-05E6C8659792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1" name="Google Shape;314;p5">
              <a:extLst>
                <a:ext uri="{FF2B5EF4-FFF2-40B4-BE49-F238E27FC236}">
                  <a16:creationId xmlns:a16="http://schemas.microsoft.com/office/drawing/2014/main" id="{356D8788-7A1B-4C2A-AB56-A60B0AE15624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2" name="Google Shape;315;p5">
              <a:extLst>
                <a:ext uri="{FF2B5EF4-FFF2-40B4-BE49-F238E27FC236}">
                  <a16:creationId xmlns:a16="http://schemas.microsoft.com/office/drawing/2014/main" id="{56346FC5-C5CE-42C6-8BE5-2277EF5215CF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3" name="Google Shape;316;p5">
              <a:extLst>
                <a:ext uri="{FF2B5EF4-FFF2-40B4-BE49-F238E27FC236}">
                  <a16:creationId xmlns:a16="http://schemas.microsoft.com/office/drawing/2014/main" id="{9BC3C194-F9B8-4E24-B7F2-37E5FDE2FD9D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4" name="Google Shape;317;p5">
              <a:extLst>
                <a:ext uri="{FF2B5EF4-FFF2-40B4-BE49-F238E27FC236}">
                  <a16:creationId xmlns:a16="http://schemas.microsoft.com/office/drawing/2014/main" id="{3894D0C1-0B5D-4DEA-B729-E8498EE85E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5" name="Google Shape;318;p5">
              <a:extLst>
                <a:ext uri="{FF2B5EF4-FFF2-40B4-BE49-F238E27FC236}">
                  <a16:creationId xmlns:a16="http://schemas.microsoft.com/office/drawing/2014/main" id="{1934CA72-314B-4C3F-8B41-BB80E20AC021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6" name="Google Shape;319;p5">
              <a:extLst>
                <a:ext uri="{FF2B5EF4-FFF2-40B4-BE49-F238E27FC236}">
                  <a16:creationId xmlns:a16="http://schemas.microsoft.com/office/drawing/2014/main" id="{B0EB1864-F72B-42F0-AB2A-4104570ED953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7" name="Google Shape;320;p5">
              <a:extLst>
                <a:ext uri="{FF2B5EF4-FFF2-40B4-BE49-F238E27FC236}">
                  <a16:creationId xmlns:a16="http://schemas.microsoft.com/office/drawing/2014/main" id="{88130EAC-9316-42CA-85F9-ACDF2FE419CC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8" name="Google Shape;321;p5">
              <a:extLst>
                <a:ext uri="{FF2B5EF4-FFF2-40B4-BE49-F238E27FC236}">
                  <a16:creationId xmlns:a16="http://schemas.microsoft.com/office/drawing/2014/main" id="{193073F5-8607-4FCE-A024-8B51BEE693E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9" name="Google Shape;322;p5">
              <a:extLst>
                <a:ext uri="{FF2B5EF4-FFF2-40B4-BE49-F238E27FC236}">
                  <a16:creationId xmlns:a16="http://schemas.microsoft.com/office/drawing/2014/main" id="{A3306CAD-B7F8-4C1B-9892-3A64FAA0DBC3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B97B5B7A-4A6D-4E77-9B24-5D9BB4424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DD3099D4-19C4-4D92-BE04-768341CB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Text Placeholder 173">
            <a:extLst>
              <a:ext uri="{FF2B5EF4-FFF2-40B4-BE49-F238E27FC236}">
                <a16:creationId xmlns:a16="http://schemas.microsoft.com/office/drawing/2014/main" id="{8816F192-26F1-4320-85A5-B3801E75E0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3" y="1826683"/>
            <a:ext cx="3245097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93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67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4" name="Google Shape;291;p5">
            <a:extLst>
              <a:ext uri="{FF2B5EF4-FFF2-40B4-BE49-F238E27FC236}">
                <a16:creationId xmlns:a16="http://schemas.microsoft.com/office/drawing/2014/main" id="{763D4E0A-7F5C-4139-9F7C-464832E07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884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166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0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98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8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243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60694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66_71B806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6A_A72EFE7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71_7B1D7A2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18/10/relationships/comments" Target="../comments/modernComment_46B_33BC463.xml"/><Relationship Id="rId7" Type="http://schemas.openxmlformats.org/officeDocument/2006/relationships/hyperlink" Target=".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Relationship Id="rId5" Type="http://schemas.openxmlformats.org/officeDocument/2006/relationships/hyperlink" Target="." TargetMode="External"/><Relationship Id="rId4" Type="http://schemas.microsoft.com/office/2018/10/relationships/comments" Target="../comments/modernComment_46C_873E3A7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6E_BC79CFC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473_7E78E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8A1D-8E07-3CB6-AB7F-3CEA26396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066" y="1560098"/>
            <a:ext cx="11181867" cy="1546400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b="1" dirty="0"/>
              <a:t>HTML</a:t>
            </a:r>
            <a:r>
              <a:rPr lang="en-US" dirty="0"/>
              <a:t>: Introduction to Lists, Links, Structure, Display</a:t>
            </a:r>
          </a:p>
        </p:txBody>
      </p:sp>
    </p:spTree>
    <p:extLst>
      <p:ext uri="{BB962C8B-B14F-4D97-AF65-F5344CB8AC3E}">
        <p14:creationId xmlns:p14="http://schemas.microsoft.com/office/powerpoint/2010/main" val="40161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1582-A3D3-2A93-D791-15F77E25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0EBC-8A74-E02C-64BC-0BD6A825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62" y="326953"/>
            <a:ext cx="10822233" cy="1143200"/>
          </a:xfrm>
        </p:spPr>
        <p:txBody>
          <a:bodyPr/>
          <a:lstStyle/>
          <a:p>
            <a:r>
              <a:rPr lang="en-US" dirty="0"/>
              <a:t>Lists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0999A-5DBF-7376-2448-2DC3788E73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FD6DD-610F-7578-E157-86B418BDE2B6}"/>
              </a:ext>
            </a:extLst>
          </p:cNvPr>
          <p:cNvSpPr txBox="1"/>
          <p:nvPr/>
        </p:nvSpPr>
        <p:spPr>
          <a:xfrm>
            <a:off x="5836105" y="4412577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64B536-6972-C9A3-05E2-0B9D040591A3}"/>
              </a:ext>
            </a:extLst>
          </p:cNvPr>
          <p:cNvSpPr/>
          <p:nvPr/>
        </p:nvSpPr>
        <p:spPr>
          <a:xfrm>
            <a:off x="4708776" y="1884164"/>
            <a:ext cx="3027406" cy="64255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6C5A93-3FC8-7091-BEC1-0EC92EF290CE}"/>
              </a:ext>
            </a:extLst>
          </p:cNvPr>
          <p:cNvCxnSpPr>
            <a:cxnSpLocks/>
          </p:cNvCxnSpPr>
          <p:nvPr/>
        </p:nvCxnSpPr>
        <p:spPr>
          <a:xfrm flipH="1">
            <a:off x="3536943" y="2683164"/>
            <a:ext cx="1272746" cy="139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123F93-06C6-60DA-9795-108A7EA2CD71}"/>
              </a:ext>
            </a:extLst>
          </p:cNvPr>
          <p:cNvCxnSpPr/>
          <p:nvPr/>
        </p:nvCxnSpPr>
        <p:spPr>
          <a:xfrm>
            <a:off x="6222479" y="2683164"/>
            <a:ext cx="0" cy="1399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A97D89-5ADC-7E19-0837-A4C9A1BB4FF2}"/>
              </a:ext>
            </a:extLst>
          </p:cNvPr>
          <p:cNvCxnSpPr/>
          <p:nvPr/>
        </p:nvCxnSpPr>
        <p:spPr>
          <a:xfrm>
            <a:off x="7540533" y="2734420"/>
            <a:ext cx="1149178" cy="1297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F4B8-926F-2E90-306E-1ABA57BA4FF8}"/>
              </a:ext>
            </a:extLst>
          </p:cNvPr>
          <p:cNvSpPr/>
          <p:nvPr/>
        </p:nvSpPr>
        <p:spPr>
          <a:xfrm>
            <a:off x="2443375" y="4239583"/>
            <a:ext cx="2187136" cy="6327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Ordered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5251D-FE01-29FA-0447-381D7386EA8F}"/>
              </a:ext>
            </a:extLst>
          </p:cNvPr>
          <p:cNvSpPr/>
          <p:nvPr/>
        </p:nvSpPr>
        <p:spPr>
          <a:xfrm>
            <a:off x="5128910" y="4239583"/>
            <a:ext cx="2187136" cy="6327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Unordered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246543-EFE4-943B-18B7-642EB4F75B7A}"/>
              </a:ext>
            </a:extLst>
          </p:cNvPr>
          <p:cNvSpPr/>
          <p:nvPr/>
        </p:nvSpPr>
        <p:spPr>
          <a:xfrm>
            <a:off x="7778897" y="4239583"/>
            <a:ext cx="2187136" cy="63271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Description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E818A3-E06A-1FBA-EBE3-5AA36040D739}"/>
              </a:ext>
            </a:extLst>
          </p:cNvPr>
          <p:cNvSpPr/>
          <p:nvPr/>
        </p:nvSpPr>
        <p:spPr>
          <a:xfrm>
            <a:off x="2443375" y="5035740"/>
            <a:ext cx="2187136" cy="6327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&gt;&lt;/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9E7596-D99D-EF1B-B797-71BD8F72A3A6}"/>
              </a:ext>
            </a:extLst>
          </p:cNvPr>
          <p:cNvSpPr/>
          <p:nvPr/>
        </p:nvSpPr>
        <p:spPr>
          <a:xfrm>
            <a:off x="5111136" y="5035740"/>
            <a:ext cx="2187136" cy="6327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&lt;ul&gt;&lt;/ul&gt;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C1646-8F65-AA39-93BC-E0EE660435B4}"/>
              </a:ext>
            </a:extLst>
          </p:cNvPr>
          <p:cNvSpPr/>
          <p:nvPr/>
        </p:nvSpPr>
        <p:spPr>
          <a:xfrm>
            <a:off x="7778897" y="5035740"/>
            <a:ext cx="2187136" cy="63271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03C3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&lt;dl&gt;&lt;/dl&gt;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536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8.33333E-7 4.44444E-6 L 0.61484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4671-0195-D38C-A5CD-2D619F600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6028-18C8-3F79-5DC6-C7B4E635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&lt;ul&gt;&lt;/ul&gt; </a:t>
            </a: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665688FE-5354-08AD-B996-23BB93711404}"/>
              </a:ext>
            </a:extLst>
          </p:cNvPr>
          <p:cNvSpPr txBox="1">
            <a:spLocks/>
          </p:cNvSpPr>
          <p:nvPr/>
        </p:nvSpPr>
        <p:spPr>
          <a:xfrm>
            <a:off x="2447949" y="1505938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Order of the items does not matter.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887E5B8-983E-8091-9707-2469A26F3B9B}"/>
              </a:ext>
            </a:extLst>
          </p:cNvPr>
          <p:cNvSpPr/>
          <p:nvPr/>
        </p:nvSpPr>
        <p:spPr>
          <a:xfrm>
            <a:off x="1862312" y="1471698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C0368-1A7F-507A-67FE-A2DD32B3C2EE}"/>
              </a:ext>
            </a:extLst>
          </p:cNvPr>
          <p:cNvSpPr txBox="1"/>
          <p:nvPr/>
        </p:nvSpPr>
        <p:spPr>
          <a:xfrm>
            <a:off x="5474848" y="40877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pic>
        <p:nvPicPr>
          <p:cNvPr id="6" name="Picture 5" descr="A computer screen with a picture on it&#10;&#10;AI-generated content may be incorrect.">
            <a:extLst>
              <a:ext uri="{FF2B5EF4-FFF2-40B4-BE49-F238E27FC236}">
                <a16:creationId xmlns:a16="http://schemas.microsoft.com/office/drawing/2014/main" id="{C74589D0-56D0-8E67-6467-FFD8DBB20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115" y="1558401"/>
            <a:ext cx="539183" cy="539183"/>
          </a:xfrm>
          <a:prstGeom prst="rect">
            <a:avLst/>
          </a:prstGeom>
        </p:spPr>
      </p:pic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13AE7FEB-D5E6-38F1-8286-DBC51DB1C98B}"/>
              </a:ext>
            </a:extLst>
          </p:cNvPr>
          <p:cNvSpPr txBox="1">
            <a:spLocks/>
          </p:cNvSpPr>
          <p:nvPr/>
        </p:nvSpPr>
        <p:spPr>
          <a:xfrm>
            <a:off x="2447949" y="2375771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Example: shopping list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64BDEC73-42C0-FA2F-E338-65BE07E401BB}"/>
              </a:ext>
            </a:extLst>
          </p:cNvPr>
          <p:cNvSpPr/>
          <p:nvPr/>
        </p:nvSpPr>
        <p:spPr>
          <a:xfrm>
            <a:off x="1862311" y="2349476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25214-5274-2831-8EA9-8AB4F75CA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783" y="4257002"/>
            <a:ext cx="3157961" cy="828002"/>
          </a:xfrm>
          <a:prstGeom prst="rect">
            <a:avLst/>
          </a:prstGeom>
        </p:spPr>
      </p:pic>
      <p:sp>
        <p:nvSpPr>
          <p:cNvPr id="14" name="Content Placeholder 42">
            <a:extLst>
              <a:ext uri="{FF2B5EF4-FFF2-40B4-BE49-F238E27FC236}">
                <a16:creationId xmlns:a16="http://schemas.microsoft.com/office/drawing/2014/main" id="{1E3FBA7E-6050-C138-38F5-385B805B3998}"/>
              </a:ext>
            </a:extLst>
          </p:cNvPr>
          <p:cNvSpPr txBox="1">
            <a:spLocks/>
          </p:cNvSpPr>
          <p:nvPr/>
        </p:nvSpPr>
        <p:spPr>
          <a:xfrm>
            <a:off x="7022783" y="3429000"/>
            <a:ext cx="2625288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Output</a:t>
            </a:r>
          </a:p>
        </p:txBody>
      </p:sp>
      <p:sp>
        <p:nvSpPr>
          <p:cNvPr id="12" name="Content Placeholder 42">
            <a:extLst>
              <a:ext uri="{FF2B5EF4-FFF2-40B4-BE49-F238E27FC236}">
                <a16:creationId xmlns:a16="http://schemas.microsoft.com/office/drawing/2014/main" id="{00E6577E-FB4B-D8A6-20BE-E22B1E97BD50}"/>
              </a:ext>
            </a:extLst>
          </p:cNvPr>
          <p:cNvSpPr txBox="1">
            <a:spLocks/>
          </p:cNvSpPr>
          <p:nvPr/>
        </p:nvSpPr>
        <p:spPr>
          <a:xfrm>
            <a:off x="2143106" y="3432172"/>
            <a:ext cx="1731132" cy="623022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Code</a:t>
            </a:r>
          </a:p>
        </p:txBody>
      </p:sp>
      <p:pic>
        <p:nvPicPr>
          <p:cNvPr id="8" name="Picture 7" descr="A notepad with a shopping cart&#10;&#10;AI-generated content may be incorrect.">
            <a:extLst>
              <a:ext uri="{FF2B5EF4-FFF2-40B4-BE49-F238E27FC236}">
                <a16:creationId xmlns:a16="http://schemas.microsoft.com/office/drawing/2014/main" id="{88A125B3-86BF-48B0-B500-48AB969A2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605" y="2415883"/>
            <a:ext cx="555749" cy="5557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3609DD-78A4-947B-CFDE-816211969126}"/>
              </a:ext>
            </a:extLst>
          </p:cNvPr>
          <p:cNvSpPr/>
          <p:nvPr/>
        </p:nvSpPr>
        <p:spPr>
          <a:xfrm>
            <a:off x="4076910" y="3429000"/>
            <a:ext cx="2743201" cy="308165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 </a:t>
            </a:r>
            <a:r>
              <a:rPr lang="en-IN" kern="0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i="1" kern="100" dirty="0"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i="1" kern="100" dirty="0">
                <a:solidFill>
                  <a:srgbClr val="555555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 </a:t>
            </a:r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2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3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milk</a:t>
            </a:r>
            <a:endParaRPr lang="en-IN" kern="100" dirty="0">
              <a:solidFill>
                <a:schemeClr val="bg1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6  </a:t>
            </a:r>
            <a:r>
              <a:rPr lang="en-IN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bananas</a:t>
            </a:r>
            <a:endParaRPr lang="en-IN" kern="100" dirty="0">
              <a:solidFill>
                <a:schemeClr val="bg1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7  mangoes</a:t>
            </a:r>
            <a:endParaRPr lang="en-IN" kern="100" dirty="0">
              <a:solidFill>
                <a:schemeClr val="bg1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8  cereals</a:t>
            </a:r>
            <a:endParaRPr lang="en-IN" kern="100" dirty="0">
              <a:solidFill>
                <a:schemeClr val="bg1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9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10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lvl="1"/>
            <a:r>
              <a:rPr lang="en-IN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11  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88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7" grpId="0" animBg="1"/>
      <p:bldP spid="11" grpId="0" animBg="1"/>
      <p:bldP spid="14" grpId="0" animBg="1"/>
      <p:bldP spid="12" grpId="0" animBg="1"/>
      <p:bldP spid="1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BD5B-FBFA-FE3B-6415-A4F5F95C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4975-F448-D06E-9CEF-EEBC9549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&lt;li&gt;&lt;/li&gt;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EDCA8-0979-07C4-6A89-F698BD3220D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E1555F1D-F138-B2D9-1E4C-78923ED353D3}"/>
              </a:ext>
            </a:extLst>
          </p:cNvPr>
          <p:cNvSpPr txBox="1">
            <a:spLocks/>
          </p:cNvSpPr>
          <p:nvPr/>
        </p:nvSpPr>
        <p:spPr>
          <a:xfrm>
            <a:off x="2447949" y="1505938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lvl="1" indent="0">
              <a:buClr>
                <a:srgbClr val="F2F2F2">
                  <a:lumMod val="95000"/>
                </a:srgbClr>
              </a:buClr>
              <a:buNone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&lt;li&gt; refers to </a:t>
            </a:r>
            <a:r>
              <a:rPr lang="en-US" sz="2800" kern="0" dirty="0">
                <a:solidFill>
                  <a:srgbClr val="D4D4D4"/>
                </a:solidFill>
                <a:latin typeface="Arial" panose="020B0604020202020204"/>
                <a:ea typeface="+mn-lt"/>
              </a:rPr>
              <a:t>a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list </a:t>
            </a:r>
            <a:r>
              <a:rPr lang="en-US" sz="2800" kern="0" dirty="0">
                <a:solidFill>
                  <a:srgbClr val="D4D4D4"/>
                </a:solidFill>
                <a:latin typeface="Arial" panose="020B0604020202020204"/>
                <a:ea typeface="+mn-lt"/>
              </a:rPr>
              <a:t>of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items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27EB4C0-FF5D-A25F-2FE7-24B486EE75AD}"/>
              </a:ext>
            </a:extLst>
          </p:cNvPr>
          <p:cNvSpPr/>
          <p:nvPr/>
        </p:nvSpPr>
        <p:spPr>
          <a:xfrm>
            <a:off x="1862312" y="1471698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2E342-2814-1069-AA89-7F22AF099B25}"/>
              </a:ext>
            </a:extLst>
          </p:cNvPr>
          <p:cNvSpPr txBox="1"/>
          <p:nvPr/>
        </p:nvSpPr>
        <p:spPr>
          <a:xfrm>
            <a:off x="5886977" y="415991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pic>
        <p:nvPicPr>
          <p:cNvPr id="6" name="Picture 5" descr="A computer screen with a picture on it&#10;&#10;AI-generated content may be incorrect.">
            <a:extLst>
              <a:ext uri="{FF2B5EF4-FFF2-40B4-BE49-F238E27FC236}">
                <a16:creationId xmlns:a16="http://schemas.microsoft.com/office/drawing/2014/main" id="{5CC2E0F9-70F4-A2CF-D982-F37E5E3EC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115" y="1558401"/>
            <a:ext cx="539183" cy="539183"/>
          </a:xfrm>
          <a:prstGeom prst="rect">
            <a:avLst/>
          </a:prstGeom>
        </p:spPr>
      </p:pic>
      <p:sp>
        <p:nvSpPr>
          <p:cNvPr id="14" name="Content Placeholder 42">
            <a:extLst>
              <a:ext uri="{FF2B5EF4-FFF2-40B4-BE49-F238E27FC236}">
                <a16:creationId xmlns:a16="http://schemas.microsoft.com/office/drawing/2014/main" id="{3EF67F1F-C3F1-BB68-B578-35B75616ADEA}"/>
              </a:ext>
            </a:extLst>
          </p:cNvPr>
          <p:cNvSpPr txBox="1">
            <a:spLocks/>
          </p:cNvSpPr>
          <p:nvPr/>
        </p:nvSpPr>
        <p:spPr>
          <a:xfrm>
            <a:off x="7331890" y="2574962"/>
            <a:ext cx="1731133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Output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AF2937-CE3F-6C8B-1895-95B0F8AE7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890" y="3516823"/>
            <a:ext cx="2268479" cy="2012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90C35-E75A-36A2-063F-940767E7CF37}"/>
              </a:ext>
            </a:extLst>
          </p:cNvPr>
          <p:cNvSpPr txBox="1"/>
          <p:nvPr/>
        </p:nvSpPr>
        <p:spPr>
          <a:xfrm>
            <a:off x="3951409" y="2574962"/>
            <a:ext cx="2735872" cy="347531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  </a:t>
            </a:r>
            <a:r>
              <a:rPr lang="en-IN" sz="1600" i="1" kern="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&lt;!DOCTYPE html&gt;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2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3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6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6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milk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7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6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banana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8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6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mangoes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9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6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cereals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10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11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</a:pPr>
            <a:r>
              <a:rPr lang="en-IN" sz="16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12  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6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6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6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10" name="Content Placeholder 42">
            <a:extLst>
              <a:ext uri="{FF2B5EF4-FFF2-40B4-BE49-F238E27FC236}">
                <a16:creationId xmlns:a16="http://schemas.microsoft.com/office/drawing/2014/main" id="{94328756-FC4D-3A2E-A1A1-9C2F8E9B7845}"/>
              </a:ext>
            </a:extLst>
          </p:cNvPr>
          <p:cNvSpPr txBox="1">
            <a:spLocks/>
          </p:cNvSpPr>
          <p:nvPr/>
        </p:nvSpPr>
        <p:spPr>
          <a:xfrm>
            <a:off x="2011115" y="2574962"/>
            <a:ext cx="1731132" cy="623022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3378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14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9D04B-232A-04F8-A691-16C470F5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4BE8-F2FD-2077-6179-5A367515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&gt;&lt;/</a:t>
            </a:r>
            <a:r>
              <a:rPr lang="en-US" dirty="0" err="1"/>
              <a:t>ol</a:t>
            </a:r>
            <a:r>
              <a:rPr lang="en-US" dirty="0"/>
              <a:t>&gt;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A61A-8DE3-F75B-F4BD-5475A2856B9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CE8A3573-9B64-E154-D553-050043CB2A32}"/>
              </a:ext>
            </a:extLst>
          </p:cNvPr>
          <p:cNvSpPr txBox="1">
            <a:spLocks/>
          </p:cNvSpPr>
          <p:nvPr/>
        </p:nvSpPr>
        <p:spPr>
          <a:xfrm>
            <a:off x="2447949" y="1505938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Order of the items matters.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A6E2004E-A113-1620-008C-5C2DCF79BF3F}"/>
              </a:ext>
            </a:extLst>
          </p:cNvPr>
          <p:cNvSpPr/>
          <p:nvPr/>
        </p:nvSpPr>
        <p:spPr>
          <a:xfrm>
            <a:off x="1862312" y="1471698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48112-3EA0-D009-33A8-9AFE480A6916}"/>
              </a:ext>
            </a:extLst>
          </p:cNvPr>
          <p:cNvSpPr txBox="1"/>
          <p:nvPr/>
        </p:nvSpPr>
        <p:spPr>
          <a:xfrm>
            <a:off x="5474848" y="40877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pic>
        <p:nvPicPr>
          <p:cNvPr id="6" name="Picture 5" descr="A computer screen with a picture on it&#10;&#10;AI-generated content may be incorrect.">
            <a:extLst>
              <a:ext uri="{FF2B5EF4-FFF2-40B4-BE49-F238E27FC236}">
                <a16:creationId xmlns:a16="http://schemas.microsoft.com/office/drawing/2014/main" id="{BEFE7F80-42F9-A8AA-C1B4-B6B483296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115" y="1558401"/>
            <a:ext cx="539183" cy="539183"/>
          </a:xfrm>
          <a:prstGeom prst="rect">
            <a:avLst/>
          </a:prstGeom>
        </p:spPr>
      </p:pic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C9D075E3-CD92-E049-06F2-A07426734D62}"/>
              </a:ext>
            </a:extLst>
          </p:cNvPr>
          <p:cNvSpPr txBox="1">
            <a:spLocks/>
          </p:cNvSpPr>
          <p:nvPr/>
        </p:nvSpPr>
        <p:spPr>
          <a:xfrm>
            <a:off x="2447949" y="2375771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Example: directions or recipe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ED5CC7C4-A944-D02E-233D-B04D67CED0B1}"/>
              </a:ext>
            </a:extLst>
          </p:cNvPr>
          <p:cNvSpPr/>
          <p:nvPr/>
        </p:nvSpPr>
        <p:spPr>
          <a:xfrm>
            <a:off x="1862311" y="2349476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14" name="Content Placeholder 42">
            <a:extLst>
              <a:ext uri="{FF2B5EF4-FFF2-40B4-BE49-F238E27FC236}">
                <a16:creationId xmlns:a16="http://schemas.microsoft.com/office/drawing/2014/main" id="{E82489B9-C901-1928-C617-8B1192ABED49}"/>
              </a:ext>
            </a:extLst>
          </p:cNvPr>
          <p:cNvSpPr txBox="1">
            <a:spLocks/>
          </p:cNvSpPr>
          <p:nvPr/>
        </p:nvSpPr>
        <p:spPr>
          <a:xfrm>
            <a:off x="6484314" y="3452503"/>
            <a:ext cx="2625288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9E874-F78C-611F-3AED-069BDAA79C64}"/>
              </a:ext>
            </a:extLst>
          </p:cNvPr>
          <p:cNvSpPr txBox="1"/>
          <p:nvPr/>
        </p:nvSpPr>
        <p:spPr>
          <a:xfrm>
            <a:off x="2011115" y="3360533"/>
            <a:ext cx="3913675" cy="262950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  </a:t>
            </a:r>
            <a:r>
              <a:rPr lang="en-IN" sz="1200" i="1" kern="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&lt;!DOCTYPE html&gt;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2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3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ol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  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&gt;Download the application&lt;/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6  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&gt;Install it on your device&lt;/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7  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&gt;Follow the setup&lt;/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8  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&gt;Start your application&lt;/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9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200" b="1" kern="0" dirty="0" err="1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ol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10  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11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</a:pPr>
            <a:r>
              <a:rPr lang="en-IN" sz="12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12  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C19542-57D3-87F3-A27B-25E00EDEAE36}"/>
              </a:ext>
            </a:extLst>
          </p:cNvPr>
          <p:cNvSpPr txBox="1"/>
          <p:nvPr/>
        </p:nvSpPr>
        <p:spPr>
          <a:xfrm>
            <a:off x="6484314" y="4633594"/>
            <a:ext cx="3441739" cy="13508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marL="342900" marR="0" indent="-342900">
              <a:lnSpc>
                <a:spcPct val="115000"/>
              </a:lnSpc>
              <a:buAutoNum type="arabicPeriod"/>
            </a:pPr>
            <a:r>
              <a:rPr lang="en-IN" sz="1800" kern="100" dirty="0">
                <a:solidFill>
                  <a:schemeClr val="bg1">
                    <a:lumMod val="10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Download the application</a:t>
            </a:r>
          </a:p>
          <a:p>
            <a:pPr marL="342900" marR="0" indent="-342900">
              <a:lnSpc>
                <a:spcPct val="115000"/>
              </a:lnSpc>
              <a:buAutoNum type="arabicPeriod"/>
            </a:pPr>
            <a:r>
              <a:rPr lang="en-IN" kern="100" dirty="0">
                <a:solidFill>
                  <a:schemeClr val="bg1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Install it on your device</a:t>
            </a:r>
          </a:p>
          <a:p>
            <a:pPr marL="342900" marR="0" indent="-342900">
              <a:lnSpc>
                <a:spcPct val="115000"/>
              </a:lnSpc>
              <a:buAutoNum type="arabicPeriod"/>
            </a:pPr>
            <a:r>
              <a:rPr lang="en-IN" sz="1800" kern="100" dirty="0">
                <a:solidFill>
                  <a:schemeClr val="bg1">
                    <a:lumMod val="10000"/>
                  </a:schemeClr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Follow the setup</a:t>
            </a:r>
          </a:p>
          <a:p>
            <a:pPr marL="342900" marR="0" indent="-342900">
              <a:lnSpc>
                <a:spcPct val="115000"/>
              </a:lnSpc>
              <a:buAutoNum type="arabicPeriod"/>
            </a:pPr>
            <a:r>
              <a:rPr lang="en-IN" kern="100" dirty="0">
                <a:solidFill>
                  <a:schemeClr val="bg1">
                    <a:lumMod val="10000"/>
                  </a:schemeClr>
                </a:solidFill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Start your application</a:t>
            </a:r>
            <a:endParaRPr lang="en-IN" sz="1800" kern="100" dirty="0">
              <a:solidFill>
                <a:schemeClr val="bg1">
                  <a:lumMod val="10000"/>
                </a:schemeClr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77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7" grpId="0" animBg="1"/>
      <p:bldP spid="11" grpId="0" animBg="1"/>
      <p:bldP spid="14" grpId="0" animBg="1"/>
      <p:bldP spid="8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3933-E27D-FB49-113D-EFC8D921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3E10-8520-2207-DFB1-0560AA87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&lt;dl&gt;&lt;/dl&gt;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7982-AABE-5F36-DADA-4A0C6E4B60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79C93ACA-F072-896C-5897-93272918ABE0}"/>
              </a:ext>
            </a:extLst>
          </p:cNvPr>
          <p:cNvSpPr txBox="1">
            <a:spLocks/>
          </p:cNvSpPr>
          <p:nvPr/>
        </p:nvSpPr>
        <p:spPr>
          <a:xfrm>
            <a:off x="2447949" y="1505938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Items with description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668A0A8-D51B-0895-2536-571141A4366C}"/>
              </a:ext>
            </a:extLst>
          </p:cNvPr>
          <p:cNvSpPr/>
          <p:nvPr/>
        </p:nvSpPr>
        <p:spPr>
          <a:xfrm>
            <a:off x="1754660" y="1524288"/>
            <a:ext cx="944442" cy="67835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/>
              </a:rPr>
              <a:t>&lt;dl&gt;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08005-3A90-C406-2C6F-7A8331C6D109}"/>
              </a:ext>
            </a:extLst>
          </p:cNvPr>
          <p:cNvSpPr txBox="1"/>
          <p:nvPr/>
        </p:nvSpPr>
        <p:spPr>
          <a:xfrm>
            <a:off x="5474848" y="40877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DD418FCD-DF47-CADF-9830-C08F8CBC6CCF}"/>
              </a:ext>
            </a:extLst>
          </p:cNvPr>
          <p:cNvSpPr txBox="1">
            <a:spLocks/>
          </p:cNvSpPr>
          <p:nvPr/>
        </p:nvSpPr>
        <p:spPr>
          <a:xfrm>
            <a:off x="2447949" y="2375771"/>
            <a:ext cx="7573382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Example: glossary, products with description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69B73E7E-AE3D-A534-2742-485DA3ABCB97}"/>
              </a:ext>
            </a:extLst>
          </p:cNvPr>
          <p:cNvSpPr/>
          <p:nvPr/>
        </p:nvSpPr>
        <p:spPr>
          <a:xfrm>
            <a:off x="1862311" y="2349476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9E5F1178-999A-8086-50B3-8EDB36A40057}"/>
              </a:ext>
            </a:extLst>
          </p:cNvPr>
          <p:cNvSpPr txBox="1">
            <a:spLocks/>
          </p:cNvSpPr>
          <p:nvPr/>
        </p:nvSpPr>
        <p:spPr>
          <a:xfrm>
            <a:off x="2011115" y="3227254"/>
            <a:ext cx="2625288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D4D4D4"/>
                </a:solidFill>
                <a:latin typeface="Arial" panose="020B0604020202020204"/>
                <a:ea typeface="+mn-lt"/>
              </a:rPr>
              <a:t>Syntax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 panose="020B0604020202020204"/>
              <a:ea typeface="+mn-lt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7A976-91D8-A25B-1EEB-30EF3B0E149B}"/>
              </a:ext>
            </a:extLst>
          </p:cNvPr>
          <p:cNvSpPr/>
          <p:nvPr/>
        </p:nvSpPr>
        <p:spPr>
          <a:xfrm>
            <a:off x="5288692" y="3262184"/>
            <a:ext cx="4732639" cy="20898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ysClr val="windowText" lastClr="000000"/>
                </a:solidFill>
              </a:rPr>
              <a:t>&lt;dl&gt;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&lt;dt&gt; Description term &lt;/dt&gt;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&lt;dd&gt;Description definition&lt;/dd&gt;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&lt;/dl&gt;</a:t>
            </a:r>
            <a:endParaRPr lang="en-I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75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1" grpId="0" animBg="1"/>
      <p:bldP spid="1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4ABB1-BB11-C6E6-0811-2C12E926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D6F3E38D-3EFA-9958-101B-5B070EE69349}"/>
              </a:ext>
            </a:extLst>
          </p:cNvPr>
          <p:cNvSpPr txBox="1">
            <a:spLocks/>
          </p:cNvSpPr>
          <p:nvPr/>
        </p:nvSpPr>
        <p:spPr>
          <a:xfrm>
            <a:off x="197037" y="2660359"/>
            <a:ext cx="11834541" cy="2717757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 panose="020B0604020202020204"/>
              <a:ea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1D8F7-20ED-E697-7BFD-023613E8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883" y="242471"/>
            <a:ext cx="10822233" cy="1143200"/>
          </a:xfrm>
        </p:spPr>
        <p:txBody>
          <a:bodyPr/>
          <a:lstStyle/>
          <a:p>
            <a:r>
              <a:rPr lang="en-US" dirty="0"/>
              <a:t>Execution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0FC2-F982-BCE9-ACFA-BC223861749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85221" y="2660359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85C55F-DF57-CE7F-F60E-D6D8FADEA066}"/>
              </a:ext>
            </a:extLst>
          </p:cNvPr>
          <p:cNvSpPr txBox="1"/>
          <p:nvPr/>
        </p:nvSpPr>
        <p:spPr>
          <a:xfrm>
            <a:off x="5462491" y="2987974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14" name="Content Placeholder 42">
            <a:extLst>
              <a:ext uri="{FF2B5EF4-FFF2-40B4-BE49-F238E27FC236}">
                <a16:creationId xmlns:a16="http://schemas.microsoft.com/office/drawing/2014/main" id="{E57FB15D-E9C5-F76D-EAD4-080A7E318986}"/>
              </a:ext>
            </a:extLst>
          </p:cNvPr>
          <p:cNvSpPr txBox="1">
            <a:spLocks/>
          </p:cNvSpPr>
          <p:nvPr/>
        </p:nvSpPr>
        <p:spPr>
          <a:xfrm>
            <a:off x="7638642" y="1841034"/>
            <a:ext cx="2625288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05857A-C3D9-8888-FF52-AE3ECC9C7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059" y="3091657"/>
            <a:ext cx="5610454" cy="1855160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EF633139-C4CF-D7AD-53F9-8433A31E6F4A}"/>
              </a:ext>
            </a:extLst>
          </p:cNvPr>
          <p:cNvSpPr txBox="1">
            <a:spLocks/>
          </p:cNvSpPr>
          <p:nvPr/>
        </p:nvSpPr>
        <p:spPr>
          <a:xfrm>
            <a:off x="1928071" y="1841033"/>
            <a:ext cx="2625288" cy="67835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 panose="020B0604020202020204"/>
                <a:ea typeface="+mn-lt"/>
                <a:cs typeface="Arial"/>
                <a:sym typeface="Arial"/>
              </a:rPr>
              <a:t>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F6FA5-6CE7-69F1-19C3-C9377CF9A649}"/>
              </a:ext>
            </a:extLst>
          </p:cNvPr>
          <p:cNvSpPr txBox="1"/>
          <p:nvPr/>
        </p:nvSpPr>
        <p:spPr>
          <a:xfrm>
            <a:off x="435487" y="2916851"/>
            <a:ext cx="5578642" cy="220477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buNone/>
            </a:pP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dl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&lt;</a:t>
            </a:r>
            <a:r>
              <a:rPr lang="en-IN" sz="12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&gt;CPU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   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&gt;Central Processing Unit – the brain of the computer.&lt;/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endParaRPr lang="en-IN" sz="1200" b="1" kern="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&gt;RAM&lt;/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&gt;Random Access Memory – temporary memory&lt;/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endParaRPr lang="en-IN" sz="1200" b="1" kern="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&gt;SSD&lt;/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dt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Mangal" panose="02040503050203030202" pitchFamily="18" charset="0"/>
              </a:rPr>
              <a:t>  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&gt;Solid State Drive – a fast storage device.&lt;/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dd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2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dl</a:t>
            </a:r>
            <a:r>
              <a:rPr lang="en-IN" sz="12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2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56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7EFFB-1A9F-56F1-88FC-3B3387B7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E0116991-74DA-CB7E-9696-3A7DECC123F2}"/>
              </a:ext>
            </a:extLst>
          </p:cNvPr>
          <p:cNvSpPr txBox="1"/>
          <p:nvPr/>
        </p:nvSpPr>
        <p:spPr>
          <a:xfrm>
            <a:off x="5502931" y="36146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B0DBF-4B10-BF9E-4047-78BD67AD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Attributes-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64C4C-D636-3FB1-5AE2-29871029751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985D42D5-CB63-37F2-65D4-EDAA06CAB7A5}"/>
              </a:ext>
            </a:extLst>
          </p:cNvPr>
          <p:cNvSpPr txBox="1">
            <a:spLocks/>
          </p:cNvSpPr>
          <p:nvPr/>
        </p:nvSpPr>
        <p:spPr>
          <a:xfrm>
            <a:off x="2447948" y="1540881"/>
            <a:ext cx="7804130" cy="74925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Syntax : &lt;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ol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 type=value&gt;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EC89FCD3-06BF-6584-A5C8-EF7150298291}"/>
              </a:ext>
            </a:extLst>
          </p:cNvPr>
          <p:cNvSpPr/>
          <p:nvPr/>
        </p:nvSpPr>
        <p:spPr>
          <a:xfrm>
            <a:off x="1939922" y="1540880"/>
            <a:ext cx="836790" cy="749250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649073-7F0D-C391-9948-CEFE07CD1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312713"/>
              </p:ext>
            </p:extLst>
          </p:nvPr>
        </p:nvGraphicFramePr>
        <p:xfrm>
          <a:off x="2032000" y="3584252"/>
          <a:ext cx="8128000" cy="28126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666211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47830427"/>
                    </a:ext>
                  </a:extLst>
                </a:gridCol>
              </a:tblGrid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Possible Counting Symbols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type=value&gt;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511004"/>
                  </a:ext>
                </a:extLst>
              </a:tr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type=“1”&gt;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83378"/>
                  </a:ext>
                </a:extLst>
              </a:tr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Lowercase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type=“a”&gt;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206063"/>
                  </a:ext>
                </a:extLst>
              </a:tr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Uppercase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type=“A”&gt;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39482"/>
                  </a:ext>
                </a:extLst>
              </a:tr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Lowercase Roman numerals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9175"/>
                  </a:ext>
                </a:extLst>
              </a:tr>
              <a:tr h="468774">
                <a:tc>
                  <a:txBody>
                    <a:bodyPr/>
                    <a:lstStyle/>
                    <a:p>
                      <a:r>
                        <a:rPr lang="en-US" dirty="0"/>
                        <a:t>Uppercase Roman numerals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type=“I”&gt;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34382"/>
                  </a:ext>
                </a:extLst>
              </a:tr>
            </a:tbl>
          </a:graphicData>
        </a:graphic>
      </p:graphicFrame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1347535E-3CA2-57D8-A43F-63C5F0216C2F}"/>
              </a:ext>
            </a:extLst>
          </p:cNvPr>
          <p:cNvSpPr txBox="1">
            <a:spLocks/>
          </p:cNvSpPr>
          <p:nvPr/>
        </p:nvSpPr>
        <p:spPr>
          <a:xfrm>
            <a:off x="2447948" y="2524499"/>
            <a:ext cx="7804130" cy="74925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You can change the ordering symbols!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CA12CE50-FE4C-F9CE-DB5D-B2B442ABF2A7}"/>
              </a:ext>
            </a:extLst>
          </p:cNvPr>
          <p:cNvSpPr/>
          <p:nvPr/>
        </p:nvSpPr>
        <p:spPr>
          <a:xfrm>
            <a:off x="1939922" y="2524498"/>
            <a:ext cx="836790" cy="749250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487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E931-7E80-D811-7C73-8C761C53A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FEEBAB31-4AD2-9BBD-357C-024393BE2CF2}"/>
              </a:ext>
            </a:extLst>
          </p:cNvPr>
          <p:cNvSpPr txBox="1"/>
          <p:nvPr/>
        </p:nvSpPr>
        <p:spPr>
          <a:xfrm>
            <a:off x="5502931" y="36146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C3826-C841-9A3D-ED2D-DA99DC6E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48A9-5234-184F-B0BD-D9CB0178F8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8086" y="3809538"/>
            <a:ext cx="8894763" cy="4349750"/>
          </a:xfrm>
        </p:spPr>
        <p:txBody>
          <a:bodyPr>
            <a:normAutofit/>
          </a:bodyPr>
          <a:lstStyle/>
          <a:p>
            <a:pPr lvl="2"/>
            <a:endParaRPr lang="en-US" dirty="0"/>
          </a:p>
          <a:p>
            <a:pPr lvl="2"/>
            <a:endParaRPr lang="en-US" dirty="0"/>
          </a:p>
          <a:p>
            <a:pPr marL="609585" lvl="2" indent="0">
              <a:buNone/>
            </a:pPr>
            <a:endParaRPr lang="en-US" sz="32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25B71625-1C62-039C-259B-0E8B527E48B8}"/>
              </a:ext>
            </a:extLst>
          </p:cNvPr>
          <p:cNvSpPr txBox="1">
            <a:spLocks/>
          </p:cNvSpPr>
          <p:nvPr/>
        </p:nvSpPr>
        <p:spPr>
          <a:xfrm>
            <a:off x="2404406" y="1540881"/>
            <a:ext cx="7847672" cy="981478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6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Let’s try different types of ordered list numbering. 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FF543088-5907-93EA-8AF0-0DD32F32D544}"/>
              </a:ext>
            </a:extLst>
          </p:cNvPr>
          <p:cNvSpPr/>
          <p:nvPr/>
        </p:nvSpPr>
        <p:spPr>
          <a:xfrm>
            <a:off x="1939922" y="1540880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F01A64EC-D1C3-2B11-893E-61C105D62FC6}"/>
              </a:ext>
            </a:extLst>
          </p:cNvPr>
          <p:cNvSpPr txBox="1">
            <a:spLocks/>
          </p:cNvSpPr>
          <p:nvPr/>
        </p:nvSpPr>
        <p:spPr>
          <a:xfrm>
            <a:off x="2447948" y="2665530"/>
            <a:ext cx="7804130" cy="87511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We’ll s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upply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 a different value attribute and observe the changes!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A4841779-5931-0A9D-CC11-4D6293A5E9E9}"/>
              </a:ext>
            </a:extLst>
          </p:cNvPr>
          <p:cNvSpPr/>
          <p:nvPr/>
        </p:nvSpPr>
        <p:spPr>
          <a:xfrm>
            <a:off x="1939922" y="2665530"/>
            <a:ext cx="836790" cy="749250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620905-F20C-27F9-FC62-9D0F6E5D1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270218"/>
              </p:ext>
            </p:extLst>
          </p:nvPr>
        </p:nvGraphicFramePr>
        <p:xfrm>
          <a:off x="2315085" y="3767398"/>
          <a:ext cx="8128000" cy="25873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666211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47830427"/>
                    </a:ext>
                  </a:extLst>
                </a:gridCol>
              </a:tblGrid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Possible Counting Symbols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type=value&gt;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511004"/>
                  </a:ext>
                </a:extLst>
              </a:tr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type=“1”&gt;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983378"/>
                  </a:ext>
                </a:extLst>
              </a:tr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Lowercase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type=“a”&gt;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206063"/>
                  </a:ext>
                </a:extLst>
              </a:tr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Uppercase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type=“A”&gt;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39482"/>
                  </a:ext>
                </a:extLst>
              </a:tr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Lowercase Roman numerals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19175"/>
                  </a:ext>
                </a:extLst>
              </a:tr>
              <a:tr h="431226">
                <a:tc>
                  <a:txBody>
                    <a:bodyPr/>
                    <a:lstStyle/>
                    <a:p>
                      <a:r>
                        <a:rPr lang="en-US" dirty="0"/>
                        <a:t>Uppercase Roman numerals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en-US" dirty="0" err="1"/>
                        <a:t>ol</a:t>
                      </a:r>
                      <a:r>
                        <a:rPr lang="en-US" dirty="0"/>
                        <a:t> type=“I”&gt;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34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93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5BA2-7D3D-D508-93D8-AAFC3899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642B9969-E129-8848-FB51-12AE89C47611}"/>
              </a:ext>
            </a:extLst>
          </p:cNvPr>
          <p:cNvSpPr txBox="1"/>
          <p:nvPr/>
        </p:nvSpPr>
        <p:spPr>
          <a:xfrm>
            <a:off x="5502931" y="36146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740EE8-2A7D-E42D-A067-A4AC93475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&gt;&lt;/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17213ACF-BA7B-D2F6-6186-543D5E632B23}"/>
              </a:ext>
            </a:extLst>
          </p:cNvPr>
          <p:cNvSpPr txBox="1">
            <a:spLocks/>
          </p:cNvSpPr>
          <p:nvPr/>
        </p:nvSpPr>
        <p:spPr>
          <a:xfrm>
            <a:off x="2505702" y="1552896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 Displays images on the web page.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0A4D4BF-07E6-FCAD-E071-858E0DFD421A}"/>
              </a:ext>
            </a:extLst>
          </p:cNvPr>
          <p:cNvSpPr/>
          <p:nvPr/>
        </p:nvSpPr>
        <p:spPr>
          <a:xfrm>
            <a:off x="1840832" y="1552912"/>
            <a:ext cx="947912" cy="83832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0D928774-858F-E840-5090-F49BD0C15120}"/>
              </a:ext>
            </a:extLst>
          </p:cNvPr>
          <p:cNvSpPr txBox="1">
            <a:spLocks/>
          </p:cNvSpPr>
          <p:nvPr/>
        </p:nvSpPr>
        <p:spPr>
          <a:xfrm>
            <a:off x="1578437" y="2845183"/>
            <a:ext cx="2420614" cy="57098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7A216-691F-1933-9DDD-096E323ACE7F}"/>
              </a:ext>
            </a:extLst>
          </p:cNvPr>
          <p:cNvSpPr txBox="1"/>
          <p:nvPr/>
        </p:nvSpPr>
        <p:spPr>
          <a:xfrm>
            <a:off x="4204921" y="2930618"/>
            <a:ext cx="6408641" cy="40011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r>
              <a:rPr lang="en-US" sz="2000" dirty="0" err="1">
                <a:solidFill>
                  <a:schemeClr val="bg1"/>
                </a:solidFill>
              </a:rPr>
              <a:t>src</a:t>
            </a:r>
            <a:r>
              <a:rPr lang="en-US" sz="2000" dirty="0">
                <a:solidFill>
                  <a:schemeClr val="bg1"/>
                </a:solidFill>
              </a:rPr>
              <a:t>=“</a:t>
            </a:r>
            <a:r>
              <a:rPr lang="en-US" sz="2000" dirty="0" err="1">
                <a:solidFill>
                  <a:schemeClr val="bg1"/>
                </a:solidFill>
              </a:rPr>
              <a:t>URL_of_the_image</a:t>
            </a:r>
            <a:r>
              <a:rPr lang="en-US" sz="2000" dirty="0">
                <a:solidFill>
                  <a:schemeClr val="bg1"/>
                </a:solidFill>
              </a:rPr>
              <a:t>” alt=“descriptor”&gt;&lt;/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8" name="Content Placeholder 42">
            <a:extLst>
              <a:ext uri="{FF2B5EF4-FFF2-40B4-BE49-F238E27FC236}">
                <a16:creationId xmlns:a16="http://schemas.microsoft.com/office/drawing/2014/main" id="{A3D22917-8F13-AE64-C929-5B5AD16D21CB}"/>
              </a:ext>
            </a:extLst>
          </p:cNvPr>
          <p:cNvSpPr txBox="1">
            <a:spLocks/>
          </p:cNvSpPr>
          <p:nvPr/>
        </p:nvSpPr>
        <p:spPr>
          <a:xfrm>
            <a:off x="1578437" y="3652164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Attribute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23324-A518-54DE-5DE1-D933E238AE2A}"/>
              </a:ext>
            </a:extLst>
          </p:cNvPr>
          <p:cNvSpPr txBox="1"/>
          <p:nvPr/>
        </p:nvSpPr>
        <p:spPr>
          <a:xfrm>
            <a:off x="4204922" y="3583710"/>
            <a:ext cx="640864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src</a:t>
            </a:r>
            <a:r>
              <a:rPr lang="en-US" sz="2000" dirty="0">
                <a:solidFill>
                  <a:schemeClr val="bg1"/>
                </a:solidFill>
              </a:rPr>
              <a:t> – source (address) of the webpage the image comes from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alt</a:t>
            </a:r>
            <a:r>
              <a:rPr lang="en-US" sz="2000" dirty="0">
                <a:solidFill>
                  <a:schemeClr val="bg1"/>
                </a:solidFill>
              </a:rPr>
              <a:t> - alternate text for the image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11" name="Graphic 10" descr="Images with solid fill">
            <a:extLst>
              <a:ext uri="{FF2B5EF4-FFF2-40B4-BE49-F238E27FC236}">
                <a16:creationId xmlns:a16="http://schemas.microsoft.com/office/drawing/2014/main" id="{3D027002-B908-BD5A-8C3E-1AA1A696BC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4436" y="1649081"/>
            <a:ext cx="598445" cy="598445"/>
          </a:xfrm>
          <a:prstGeom prst="rect">
            <a:avLst/>
          </a:prstGeom>
        </p:spPr>
      </p:pic>
      <p:sp>
        <p:nvSpPr>
          <p:cNvPr id="3" name="Content Placeholder 42">
            <a:extLst>
              <a:ext uri="{FF2B5EF4-FFF2-40B4-BE49-F238E27FC236}">
                <a16:creationId xmlns:a16="http://schemas.microsoft.com/office/drawing/2014/main" id="{6549CE6A-D4F4-4316-315D-6222D8EB09CF}"/>
              </a:ext>
            </a:extLst>
          </p:cNvPr>
          <p:cNvSpPr txBox="1">
            <a:spLocks/>
          </p:cNvSpPr>
          <p:nvPr/>
        </p:nvSpPr>
        <p:spPr>
          <a:xfrm>
            <a:off x="4069829" y="4600892"/>
            <a:ext cx="4052342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  Example Code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F56B3B-4DD4-0D85-941A-77C32C34EFCC}"/>
              </a:ext>
            </a:extLst>
          </p:cNvPr>
          <p:cNvSpPr txBox="1"/>
          <p:nvPr/>
        </p:nvSpPr>
        <p:spPr>
          <a:xfrm>
            <a:off x="1840832" y="5364686"/>
            <a:ext cx="8411246" cy="394147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b="1" kern="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img</a:t>
            </a:r>
            <a:r>
              <a:rPr lang="en-IN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b="1" kern="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src</a:t>
            </a:r>
            <a:r>
              <a:rPr lang="en-IN" b="1" kern="0" dirty="0">
                <a:solidFill>
                  <a:schemeClr val="bg1">
                    <a:lumMod val="1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=“</a:t>
            </a:r>
            <a:r>
              <a:rPr lang="en-IN" b="1" kern="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https://cutecats.com/felix</a:t>
            </a:r>
            <a:r>
              <a:rPr lang="en-IN" b="1" kern="0" dirty="0">
                <a:solidFill>
                  <a:schemeClr val="bg1">
                    <a:lumMod val="1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” </a:t>
            </a:r>
            <a:r>
              <a:rPr lang="en-IN" b="1" kern="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alt</a:t>
            </a:r>
            <a:r>
              <a:rPr lang="en-IN" b="1" kern="0" dirty="0">
                <a:solidFill>
                  <a:schemeClr val="bg1">
                    <a:lumMod val="1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=“Adorable cat”</a:t>
            </a:r>
            <a:r>
              <a:rPr lang="en-IN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b="1" kern="0" dirty="0" err="1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img</a:t>
            </a:r>
            <a:r>
              <a:rPr lang="en-IN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52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  <p:bldP spid="6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83606-7A72-1E4D-8378-1E0043B3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6117D7AE-3381-86A2-17D5-EF3B2A3C9AEE}"/>
              </a:ext>
            </a:extLst>
          </p:cNvPr>
          <p:cNvSpPr txBox="1"/>
          <p:nvPr/>
        </p:nvSpPr>
        <p:spPr>
          <a:xfrm>
            <a:off x="5502931" y="36146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3C8AB-0859-3331-055F-28967663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Hyperlink</a:t>
            </a: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94663B68-BE01-BE5D-92FC-E203E2443C7B}"/>
              </a:ext>
            </a:extLst>
          </p:cNvPr>
          <p:cNvSpPr txBox="1">
            <a:spLocks/>
          </p:cNvSpPr>
          <p:nvPr/>
        </p:nvSpPr>
        <p:spPr>
          <a:xfrm>
            <a:off x="2447948" y="1540880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Links one resource(document/media/text) to another resource.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F8BC1855-4E21-6550-6781-D477B6BA98D2}"/>
              </a:ext>
            </a:extLst>
          </p:cNvPr>
          <p:cNvSpPr/>
          <p:nvPr/>
        </p:nvSpPr>
        <p:spPr>
          <a:xfrm>
            <a:off x="1939922" y="1540880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20A5EDDF-19BF-CF8B-AFE8-9779175835CE}"/>
              </a:ext>
            </a:extLst>
          </p:cNvPr>
          <p:cNvSpPr txBox="1">
            <a:spLocks/>
          </p:cNvSpPr>
          <p:nvPr/>
        </p:nvSpPr>
        <p:spPr>
          <a:xfrm>
            <a:off x="2447948" y="2678847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Works like a doorbell.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3391543-426F-A253-C4DA-7FB258C6FD62}"/>
              </a:ext>
            </a:extLst>
          </p:cNvPr>
          <p:cNvSpPr/>
          <p:nvPr/>
        </p:nvSpPr>
        <p:spPr>
          <a:xfrm>
            <a:off x="1939922" y="2678847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6" name="Graphic 5" descr="Link with solid fill">
            <a:extLst>
              <a:ext uri="{FF2B5EF4-FFF2-40B4-BE49-F238E27FC236}">
                <a16:creationId xmlns:a16="http://schemas.microsoft.com/office/drawing/2014/main" id="{A1EC35F2-318F-578F-2D95-2B4A9AC69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1039" y="1540880"/>
            <a:ext cx="721505" cy="721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668264-9B2F-7AA9-E9AB-D6287B184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1527" y="2775413"/>
            <a:ext cx="540527" cy="540527"/>
          </a:xfrm>
          <a:prstGeom prst="rect">
            <a:avLst/>
          </a:prstGeom>
        </p:spPr>
      </p:pic>
      <p:sp>
        <p:nvSpPr>
          <p:cNvPr id="17" name="Content Placeholder 42">
            <a:extLst>
              <a:ext uri="{FF2B5EF4-FFF2-40B4-BE49-F238E27FC236}">
                <a16:creationId xmlns:a16="http://schemas.microsoft.com/office/drawing/2014/main" id="{7CD6CD87-78AC-970A-4634-10476DF22115}"/>
              </a:ext>
            </a:extLst>
          </p:cNvPr>
          <p:cNvSpPr txBox="1">
            <a:spLocks/>
          </p:cNvSpPr>
          <p:nvPr/>
        </p:nvSpPr>
        <p:spPr>
          <a:xfrm>
            <a:off x="2447948" y="3816814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The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  <a:hlinkClick r:id="rId7" action="ppaction://hlinkfile"/>
              </a:rPr>
              <a:t>visible text of the link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 is like the button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2610F19B-0D68-58AF-55FB-E171FC93EBE7}"/>
              </a:ext>
            </a:extLst>
          </p:cNvPr>
          <p:cNvSpPr/>
          <p:nvPr/>
        </p:nvSpPr>
        <p:spPr>
          <a:xfrm>
            <a:off x="1939922" y="3816814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0911A5-1E0A-E877-4EF0-F3F7C1F3E8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5142" y="3926461"/>
            <a:ext cx="493295" cy="493295"/>
          </a:xfrm>
          <a:prstGeom prst="rect">
            <a:avLst/>
          </a:prstGeom>
        </p:spPr>
      </p:pic>
      <p:sp>
        <p:nvSpPr>
          <p:cNvPr id="22" name="Content Placeholder 42">
            <a:extLst>
              <a:ext uri="{FF2B5EF4-FFF2-40B4-BE49-F238E27FC236}">
                <a16:creationId xmlns:a16="http://schemas.microsoft.com/office/drawing/2014/main" id="{32AAB5CC-0FF2-EFA3-85E0-317D5F8C51CC}"/>
              </a:ext>
            </a:extLst>
          </p:cNvPr>
          <p:cNvSpPr txBox="1">
            <a:spLocks/>
          </p:cNvSpPr>
          <p:nvPr/>
        </p:nvSpPr>
        <p:spPr>
          <a:xfrm>
            <a:off x="2447948" y="4954781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The actual link itself, the URL, is like wiring for the doorbell button</a:t>
            </a: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9261B501-76F2-F2B7-D371-3C27936A3942}"/>
              </a:ext>
            </a:extLst>
          </p:cNvPr>
          <p:cNvSpPr/>
          <p:nvPr/>
        </p:nvSpPr>
        <p:spPr>
          <a:xfrm>
            <a:off x="1939922" y="4954781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B50B558-C9DC-BA15-6A8A-43201E21B4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5142" y="5064428"/>
            <a:ext cx="493295" cy="4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3FA4-9545-1951-2955-A3E7EE1BD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DF2E6B42-EE02-9F65-B1D2-002FB92933F6}"/>
              </a:ext>
            </a:extLst>
          </p:cNvPr>
          <p:cNvSpPr txBox="1"/>
          <p:nvPr/>
        </p:nvSpPr>
        <p:spPr>
          <a:xfrm>
            <a:off x="5502931" y="1492988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13CCB-DB5E-D114-8708-E272B414E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How to link?</a:t>
            </a: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536D9477-3F08-809F-4C6F-CF4470AFA0B7}"/>
              </a:ext>
            </a:extLst>
          </p:cNvPr>
          <p:cNvSpPr txBox="1">
            <a:spLocks/>
          </p:cNvSpPr>
          <p:nvPr/>
        </p:nvSpPr>
        <p:spPr>
          <a:xfrm>
            <a:off x="2447948" y="2776560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Anchor tag: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 &lt;a&gt;&lt;/a&gt;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B1DA248-9FC3-C345-7414-DDB56669DFA7}"/>
              </a:ext>
            </a:extLst>
          </p:cNvPr>
          <p:cNvSpPr/>
          <p:nvPr/>
        </p:nvSpPr>
        <p:spPr>
          <a:xfrm>
            <a:off x="1939922" y="2776560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1C779960-C6B8-19C1-F37D-0FFF99B7F2BE}"/>
              </a:ext>
            </a:extLst>
          </p:cNvPr>
          <p:cNvSpPr txBox="1">
            <a:spLocks/>
          </p:cNvSpPr>
          <p:nvPr/>
        </p:nvSpPr>
        <p:spPr>
          <a:xfrm>
            <a:off x="2447948" y="3857943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Link tag: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&lt;link&gt;&lt;/link&gt;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E0240726-94DF-05EE-09C1-B648379A510D}"/>
              </a:ext>
            </a:extLst>
          </p:cNvPr>
          <p:cNvSpPr/>
          <p:nvPr/>
        </p:nvSpPr>
        <p:spPr>
          <a:xfrm>
            <a:off x="1939922" y="3857943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3" name="Content Placeholder 42">
            <a:extLst>
              <a:ext uri="{FF2B5EF4-FFF2-40B4-BE49-F238E27FC236}">
                <a16:creationId xmlns:a16="http://schemas.microsoft.com/office/drawing/2014/main" id="{1AF41885-0AD1-FD9D-8AC0-292BAE35A34F}"/>
              </a:ext>
            </a:extLst>
          </p:cNvPr>
          <p:cNvSpPr txBox="1">
            <a:spLocks/>
          </p:cNvSpPr>
          <p:nvPr/>
        </p:nvSpPr>
        <p:spPr>
          <a:xfrm>
            <a:off x="2447948" y="1695177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Two different tags are used for this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53BC8749-0D37-46EB-13ED-CDD2F9054CD1}"/>
              </a:ext>
            </a:extLst>
          </p:cNvPr>
          <p:cNvSpPr/>
          <p:nvPr/>
        </p:nvSpPr>
        <p:spPr>
          <a:xfrm>
            <a:off x="1939922" y="1695177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3E0A1F-D02F-5B21-94D2-80EE1BF99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438" y="1807593"/>
            <a:ext cx="487757" cy="487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33E8B1-AD28-6211-82DF-A86CDA452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922" y="2862461"/>
            <a:ext cx="540787" cy="540787"/>
          </a:xfrm>
          <a:prstGeom prst="rect">
            <a:avLst/>
          </a:prstGeom>
        </p:spPr>
      </p:pic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95C6A174-234F-3496-8FA5-F2E0ACDE2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7676" y="3857943"/>
            <a:ext cx="721505" cy="721505"/>
          </a:xfrm>
          <a:prstGeom prst="rect">
            <a:avLst/>
          </a:prstGeom>
        </p:spPr>
      </p:pic>
      <p:sp>
        <p:nvSpPr>
          <p:cNvPr id="18" name="Content Placeholder 42">
            <a:extLst>
              <a:ext uri="{FF2B5EF4-FFF2-40B4-BE49-F238E27FC236}">
                <a16:creationId xmlns:a16="http://schemas.microsoft.com/office/drawing/2014/main" id="{B83BC10B-EE91-63DD-137E-D9641E84E8D0}"/>
              </a:ext>
            </a:extLst>
          </p:cNvPr>
          <p:cNvSpPr txBox="1">
            <a:spLocks/>
          </p:cNvSpPr>
          <p:nvPr/>
        </p:nvSpPr>
        <p:spPr>
          <a:xfrm>
            <a:off x="2447948" y="4939326"/>
            <a:ext cx="7746376" cy="1004274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Link</a:t>
            </a: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 and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anchor </a:t>
            </a:r>
            <a:r>
              <a:rPr kumimoji="0" lang="en-US" sz="280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are not the same! They cannot be used interchangeably.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95DDDF1C-363D-F2AD-E3A4-86779F56900B}"/>
              </a:ext>
            </a:extLst>
          </p:cNvPr>
          <p:cNvSpPr/>
          <p:nvPr/>
        </p:nvSpPr>
        <p:spPr>
          <a:xfrm>
            <a:off x="1939922" y="4939326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32DCD21-6C5E-35C7-BCC9-D1E3DBBB64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6055" y="4993361"/>
            <a:ext cx="604519" cy="60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9EC3E-79F0-3BE9-3124-7F040E1C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CA8EC8B-70C1-0B8F-1B74-2971BD0A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tag :&lt;a&gt;&lt;/a&gt;</a:t>
            </a:r>
            <a:endParaRPr lang="en-IN" dirty="0"/>
          </a:p>
        </p:txBody>
      </p:sp>
      <p:sp>
        <p:nvSpPr>
          <p:cNvPr id="13" name="Content Placeholder 42">
            <a:extLst>
              <a:ext uri="{FF2B5EF4-FFF2-40B4-BE49-F238E27FC236}">
                <a16:creationId xmlns:a16="http://schemas.microsoft.com/office/drawing/2014/main" id="{F7F86A61-B5BA-9DB1-BA66-E0080E01F5E9}"/>
              </a:ext>
            </a:extLst>
          </p:cNvPr>
          <p:cNvSpPr txBox="1">
            <a:spLocks/>
          </p:cNvSpPr>
          <p:nvPr/>
        </p:nvSpPr>
        <p:spPr>
          <a:xfrm>
            <a:off x="684885" y="1584730"/>
            <a:ext cx="2420613" cy="57098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Syntax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CC98C-B78C-A851-C20D-F5B9338C5ACE}"/>
              </a:ext>
            </a:extLst>
          </p:cNvPr>
          <p:cNvSpPr txBox="1"/>
          <p:nvPr/>
        </p:nvSpPr>
        <p:spPr>
          <a:xfrm>
            <a:off x="3364992" y="1670165"/>
            <a:ext cx="7379208" cy="40011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&lt;a  </a:t>
            </a:r>
            <a:r>
              <a:rPr lang="en-US" dirty="0" err="1"/>
              <a:t>href</a:t>
            </a:r>
            <a:r>
              <a:rPr lang="en-US" dirty="0"/>
              <a:t>=“ web address”&gt;Visible text &lt;/a&gt;</a:t>
            </a:r>
            <a:endParaRPr lang="en-IN" dirty="0"/>
          </a:p>
        </p:txBody>
      </p:sp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6E15936A-356D-FE70-21DC-D5AA1065FCB4}"/>
              </a:ext>
            </a:extLst>
          </p:cNvPr>
          <p:cNvSpPr txBox="1">
            <a:spLocks/>
          </p:cNvSpPr>
          <p:nvPr/>
        </p:nvSpPr>
        <p:spPr>
          <a:xfrm>
            <a:off x="684884" y="2339009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Attribute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3B6F5-086D-73FF-9BB5-B2063FCEDA7D}"/>
              </a:ext>
            </a:extLst>
          </p:cNvPr>
          <p:cNvSpPr txBox="1"/>
          <p:nvPr/>
        </p:nvSpPr>
        <p:spPr>
          <a:xfrm>
            <a:off x="3364990" y="2424443"/>
            <a:ext cx="7379210" cy="40011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b="1" dirty="0" err="1"/>
              <a:t>href</a:t>
            </a:r>
            <a:r>
              <a:rPr lang="en-US" dirty="0"/>
              <a:t> – hypertext reference</a:t>
            </a:r>
            <a:endParaRPr lang="en-IN" dirty="0"/>
          </a:p>
        </p:txBody>
      </p:sp>
      <p:sp>
        <p:nvSpPr>
          <p:cNvPr id="3" name="Content Placeholder 42">
            <a:extLst>
              <a:ext uri="{FF2B5EF4-FFF2-40B4-BE49-F238E27FC236}">
                <a16:creationId xmlns:a16="http://schemas.microsoft.com/office/drawing/2014/main" id="{75656DC1-CE27-013A-8AC8-21C583CBC514}"/>
              </a:ext>
            </a:extLst>
          </p:cNvPr>
          <p:cNvSpPr txBox="1">
            <a:spLocks/>
          </p:cNvSpPr>
          <p:nvPr/>
        </p:nvSpPr>
        <p:spPr>
          <a:xfrm>
            <a:off x="684884" y="3099613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Meaning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50102-3CFF-E87A-CDD4-B8AE8AB48B30}"/>
              </a:ext>
            </a:extLst>
          </p:cNvPr>
          <p:cNvSpPr txBox="1"/>
          <p:nvPr/>
        </p:nvSpPr>
        <p:spPr>
          <a:xfrm>
            <a:off x="3364989" y="3178721"/>
            <a:ext cx="7379211" cy="40011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Represents a clickable hyperlink between documents</a:t>
            </a:r>
            <a:endParaRPr lang="en-IN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01DA047C-6EF1-0F67-36D2-4C0805D94462}"/>
              </a:ext>
            </a:extLst>
          </p:cNvPr>
          <p:cNvSpPr txBox="1">
            <a:spLocks/>
          </p:cNvSpPr>
          <p:nvPr/>
        </p:nvSpPr>
        <p:spPr>
          <a:xfrm>
            <a:off x="684884" y="3860217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Example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15EAF1-4273-F4F5-D28C-20F541D26577}"/>
              </a:ext>
            </a:extLst>
          </p:cNvPr>
          <p:cNvSpPr txBox="1"/>
          <p:nvPr/>
        </p:nvSpPr>
        <p:spPr>
          <a:xfrm>
            <a:off x="3364989" y="3860217"/>
            <a:ext cx="7379211" cy="23091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 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i="1" kern="0" dirty="0">
              <a:solidFill>
                <a:srgbClr val="8F5902"/>
              </a:solidFill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2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3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4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  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6    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400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Free lawnmower 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 </a:t>
            </a:r>
            <a:r>
              <a:rPr lang="en-IN" sz="1400" b="1" kern="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href</a:t>
            </a:r>
            <a:r>
              <a:rPr lang="en-IN" sz="1400" b="1" kern="0" dirty="0">
                <a:solidFill>
                  <a:schemeClr val="bg1">
                    <a:lumMod val="1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=“</a:t>
            </a:r>
            <a:r>
              <a:rPr lang="en-IN" sz="1400" b="1" kern="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https://freemower.com</a:t>
            </a:r>
            <a:r>
              <a:rPr lang="en-IN" sz="1400" b="1" kern="0" dirty="0">
                <a:solidFill>
                  <a:schemeClr val="bg1">
                    <a:lumMod val="1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”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&gt;here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7  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ul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8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9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0BCD3-F36D-3349-132F-697C0C0EEAA3}"/>
              </a:ext>
            </a:extLst>
          </p:cNvPr>
          <p:cNvSpPr txBox="1"/>
          <p:nvPr/>
        </p:nvSpPr>
        <p:spPr>
          <a:xfrm>
            <a:off x="684885" y="4851257"/>
            <a:ext cx="2420613" cy="3270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400" kern="0" dirty="0">
                <a:solidFill>
                  <a:schemeClr val="bg1">
                    <a:lumMod val="10000"/>
                  </a:schemeClr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Free lawnmower 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  <a:hlinkClick r:id="rId5" action="ppaction://hlinkfile"/>
              </a:rPr>
              <a:t>here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002356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  <p:extLst>
    <p:ext uri="{6950BFC3-D8DA-4A85-94F7-54DA5524770B}">
      <p188:commentRel xmlns:p188="http://schemas.microsoft.com/office/powerpoint/2018/8/main" r:id="rId4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73E1-1AF6-64D2-939E-79A4566BD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52E45DC-5CAC-A834-6C76-809BA1BD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tag:&lt;link /&gt;</a:t>
            </a:r>
            <a:endParaRPr lang="en-IN" dirty="0"/>
          </a:p>
        </p:txBody>
      </p:sp>
      <p:sp>
        <p:nvSpPr>
          <p:cNvPr id="2" name="Content Placeholder 42">
            <a:extLst>
              <a:ext uri="{FF2B5EF4-FFF2-40B4-BE49-F238E27FC236}">
                <a16:creationId xmlns:a16="http://schemas.microsoft.com/office/drawing/2014/main" id="{E9C697EC-9EA9-D795-9AFB-0903AA7FECEA}"/>
              </a:ext>
            </a:extLst>
          </p:cNvPr>
          <p:cNvSpPr txBox="1">
            <a:spLocks/>
          </p:cNvSpPr>
          <p:nvPr/>
        </p:nvSpPr>
        <p:spPr>
          <a:xfrm>
            <a:off x="1310525" y="1443233"/>
            <a:ext cx="2420613" cy="57098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Syntax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FFA08-A0D1-E30E-52A0-1D816C0207FB}"/>
              </a:ext>
            </a:extLst>
          </p:cNvPr>
          <p:cNvSpPr txBox="1"/>
          <p:nvPr/>
        </p:nvSpPr>
        <p:spPr>
          <a:xfrm>
            <a:off x="3990632" y="1528668"/>
            <a:ext cx="7379208" cy="40011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&lt;link  </a:t>
            </a:r>
            <a:r>
              <a:rPr lang="en-US" dirty="0" err="1"/>
              <a:t>rel</a:t>
            </a:r>
            <a:r>
              <a:rPr lang="en-US" dirty="0"/>
              <a:t>=“type of linked resource” </a:t>
            </a:r>
            <a:r>
              <a:rPr lang="en-US" dirty="0" err="1"/>
              <a:t>href</a:t>
            </a:r>
            <a:r>
              <a:rPr lang="en-US" dirty="0"/>
              <a:t>=“address”&gt;Visible text /&gt;</a:t>
            </a:r>
            <a:endParaRPr lang="en-IN" dirty="0"/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80C76D20-B925-AC27-3DDB-89D644B50FF8}"/>
              </a:ext>
            </a:extLst>
          </p:cNvPr>
          <p:cNvSpPr txBox="1">
            <a:spLocks/>
          </p:cNvSpPr>
          <p:nvPr/>
        </p:nvSpPr>
        <p:spPr>
          <a:xfrm>
            <a:off x="1310524" y="2197512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Attribute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A6FE8-1A4C-B05B-336E-138E66ED3582}"/>
              </a:ext>
            </a:extLst>
          </p:cNvPr>
          <p:cNvSpPr txBox="1"/>
          <p:nvPr/>
        </p:nvSpPr>
        <p:spPr>
          <a:xfrm>
            <a:off x="3990116" y="2129058"/>
            <a:ext cx="7379210" cy="707886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b="1" dirty="0" err="1"/>
              <a:t>rel</a:t>
            </a:r>
            <a:r>
              <a:rPr lang="en-US" b="1" dirty="0"/>
              <a:t> – </a:t>
            </a:r>
            <a:r>
              <a:rPr lang="en-US" dirty="0"/>
              <a:t>The type of resource that is being linked</a:t>
            </a:r>
            <a:endParaRPr lang="en-US" b="1" dirty="0"/>
          </a:p>
          <a:p>
            <a:r>
              <a:rPr lang="en-US" b="1" dirty="0" err="1"/>
              <a:t>href</a:t>
            </a:r>
            <a:r>
              <a:rPr lang="en-US" dirty="0"/>
              <a:t> – The hypertext that connects to the resource</a:t>
            </a:r>
          </a:p>
        </p:txBody>
      </p:sp>
      <p:sp>
        <p:nvSpPr>
          <p:cNvPr id="6" name="Content Placeholder 42">
            <a:extLst>
              <a:ext uri="{FF2B5EF4-FFF2-40B4-BE49-F238E27FC236}">
                <a16:creationId xmlns:a16="http://schemas.microsoft.com/office/drawing/2014/main" id="{D0389B51-DB06-29AC-0A0C-ABCA4E065C0D}"/>
              </a:ext>
            </a:extLst>
          </p:cNvPr>
          <p:cNvSpPr txBox="1">
            <a:spLocks/>
          </p:cNvSpPr>
          <p:nvPr/>
        </p:nvSpPr>
        <p:spPr>
          <a:xfrm>
            <a:off x="1310524" y="3111077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Meaning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30CB2-81C7-AEE7-B98F-15DC46839B62}"/>
              </a:ext>
            </a:extLst>
          </p:cNvPr>
          <p:cNvSpPr txBox="1"/>
          <p:nvPr/>
        </p:nvSpPr>
        <p:spPr>
          <a:xfrm>
            <a:off x="3990116" y="2888736"/>
            <a:ext cx="7379211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An “empty” element reserved for the &lt;head&gt; section, that creates a relationship with a resource. Can do many things; an example is setting the webpage’s icon.</a:t>
            </a:r>
          </a:p>
        </p:txBody>
      </p:sp>
      <p:sp>
        <p:nvSpPr>
          <p:cNvPr id="8" name="Content Placeholder 42">
            <a:extLst>
              <a:ext uri="{FF2B5EF4-FFF2-40B4-BE49-F238E27FC236}">
                <a16:creationId xmlns:a16="http://schemas.microsoft.com/office/drawing/2014/main" id="{9BE804E5-8172-A546-58CD-47D57856FB14}"/>
              </a:ext>
            </a:extLst>
          </p:cNvPr>
          <p:cNvSpPr txBox="1">
            <a:spLocks/>
          </p:cNvSpPr>
          <p:nvPr/>
        </p:nvSpPr>
        <p:spPr>
          <a:xfrm>
            <a:off x="1310524" y="4048877"/>
            <a:ext cx="2420614" cy="57097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Example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FDAC1-AD0E-A8B9-1992-ED1C937130F3}"/>
              </a:ext>
            </a:extLst>
          </p:cNvPr>
          <p:cNvSpPr txBox="1"/>
          <p:nvPr/>
        </p:nvSpPr>
        <p:spPr>
          <a:xfrm>
            <a:off x="4686562" y="4048877"/>
            <a:ext cx="5286231" cy="206139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1 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i="1" kern="0" dirty="0">
              <a:solidFill>
                <a:srgbClr val="8F5902"/>
              </a:solidFill>
              <a:latin typeface="Consolas" panose="020B0609020204030204" pitchFamily="49" charset="0"/>
              <a:ea typeface="Times New Roman" panose="02020603050405020304" pitchFamily="18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2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sz="1400" kern="0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3     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title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&gt;Programming - </a:t>
            </a:r>
            <a:r>
              <a:rPr lang="en-IN" sz="1400" b="1" kern="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CoderOgres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title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5000"/>
              </a:lnSpc>
            </a:pP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sz="1400" kern="0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4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 &lt;</a:t>
            </a:r>
            <a:r>
              <a:rPr lang="en-IN" sz="1400" b="1" kern="0" dirty="0">
                <a:solidFill>
                  <a:srgbClr val="204A8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link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sz="1400" b="1" kern="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rel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=“</a:t>
            </a:r>
            <a:r>
              <a:rPr lang="en-IN" sz="1400" b="1" kern="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icon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” </a:t>
            </a:r>
            <a:r>
              <a:rPr lang="en-IN" sz="1400" b="1" kern="0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href</a:t>
            </a:r>
            <a:r>
              <a:rPr lang="en-IN" sz="1400" b="1" kern="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=“images/circle.jpg” /&gt;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5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head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IN" sz="1400" kern="0" dirty="0">
                <a:solidFill>
                  <a:srgbClr val="55555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6</a:t>
            </a: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buNone/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7  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body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</a:pPr>
            <a:r>
              <a:rPr lang="en-IN" sz="1400" kern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8 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&lt;/</a:t>
            </a:r>
            <a:r>
              <a:rPr lang="en-IN" sz="1400" b="1" kern="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html</a:t>
            </a:r>
            <a:r>
              <a:rPr lang="en-IN" sz="1400" b="1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&gt;</a:t>
            </a:r>
            <a:endParaRPr lang="en-IN" sz="14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8B9C3B2-45DB-B366-FA07-F997F9820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15" y="5664945"/>
            <a:ext cx="3130029" cy="445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C3EE7995-3579-74F9-52E5-4A89BBF8F903}"/>
              </a:ext>
            </a:extLst>
          </p:cNvPr>
          <p:cNvSpPr/>
          <p:nvPr/>
        </p:nvSpPr>
        <p:spPr>
          <a:xfrm rot="5400000">
            <a:off x="2196581" y="4840777"/>
            <a:ext cx="648499" cy="603247"/>
          </a:xfrm>
          <a:prstGeom prst="rightArrow">
            <a:avLst/>
          </a:prstGeom>
          <a:solidFill>
            <a:schemeClr val="bg2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9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C774-A1D7-9B58-CEB1-FB9E3F7D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4936535-72F7-658D-A0CC-E8595437B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883" y="271431"/>
            <a:ext cx="10822233" cy="1143200"/>
          </a:xfrm>
        </p:spPr>
        <p:txBody>
          <a:bodyPr/>
          <a:lstStyle/>
          <a:p>
            <a:r>
              <a:rPr lang="en-US" dirty="0"/>
              <a:t>Content Display Types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6701A9-D952-F09B-8906-E8562ED2D2F6}"/>
              </a:ext>
            </a:extLst>
          </p:cNvPr>
          <p:cNvSpPr/>
          <p:nvPr/>
        </p:nvSpPr>
        <p:spPr>
          <a:xfrm>
            <a:off x="4743449" y="1738563"/>
            <a:ext cx="2705100" cy="635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Types</a:t>
            </a:r>
            <a:endParaRPr lang="en-IN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610E230-36C4-29F3-505E-99F093D03F5C}"/>
              </a:ext>
            </a:extLst>
          </p:cNvPr>
          <p:cNvCxnSpPr>
            <a:cxnSpLocks/>
            <a:stCxn id="2" idx="1"/>
            <a:endCxn id="5" idx="0"/>
          </p:cNvCxnSpPr>
          <p:nvPr/>
        </p:nvCxnSpPr>
        <p:spPr>
          <a:xfrm flipH="1">
            <a:off x="3465808" y="2056063"/>
            <a:ext cx="1277641" cy="1612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FB34FA3-0AA3-FAC6-3BCA-76A5B0238AC7}"/>
              </a:ext>
            </a:extLst>
          </p:cNvPr>
          <p:cNvSpPr/>
          <p:nvPr/>
        </p:nvSpPr>
        <p:spPr>
          <a:xfrm>
            <a:off x="2386308" y="3668963"/>
            <a:ext cx="2159000" cy="673100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Block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3CBFC6-F5BE-DDDA-713E-7159283D690F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095999" y="2373563"/>
            <a:ext cx="2" cy="129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0773B5E-4B75-7B14-F20B-228228344EB3}"/>
              </a:ext>
            </a:extLst>
          </p:cNvPr>
          <p:cNvSpPr/>
          <p:nvPr/>
        </p:nvSpPr>
        <p:spPr>
          <a:xfrm>
            <a:off x="5016508" y="3668963"/>
            <a:ext cx="2158985" cy="6731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Inline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5A1ABD-E306-2626-5131-C649C61D62B3}"/>
              </a:ext>
            </a:extLst>
          </p:cNvPr>
          <p:cNvSpPr/>
          <p:nvPr/>
        </p:nvSpPr>
        <p:spPr>
          <a:xfrm>
            <a:off x="7646693" y="3668963"/>
            <a:ext cx="24384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Block-inline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D3BAFD-B6EC-D6D6-A093-677E4EC9D0BF}"/>
              </a:ext>
            </a:extLst>
          </p:cNvPr>
          <p:cNvCxnSpPr>
            <a:cxnSpLocks/>
            <a:stCxn id="5" idx="2"/>
            <a:endCxn id="24" idx="0"/>
          </p:cNvCxnSpPr>
          <p:nvPr/>
        </p:nvCxnSpPr>
        <p:spPr>
          <a:xfrm flipH="1">
            <a:off x="2960450" y="4342063"/>
            <a:ext cx="505358" cy="73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EECB9E-4D40-588A-1E10-F6857B316213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flipH="1">
            <a:off x="6095999" y="4342063"/>
            <a:ext cx="2" cy="73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B8D9FF-7613-A037-C42C-A17AD67A9E83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8865893" y="4342063"/>
            <a:ext cx="365645" cy="73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C072B2-5105-DED4-9EF6-6DAE52A0CC3F}"/>
              </a:ext>
            </a:extLst>
          </p:cNvPr>
          <p:cNvCxnSpPr>
            <a:cxnSpLocks/>
            <a:stCxn id="2" idx="3"/>
            <a:endCxn id="11" idx="0"/>
          </p:cNvCxnSpPr>
          <p:nvPr/>
        </p:nvCxnSpPr>
        <p:spPr>
          <a:xfrm>
            <a:off x="7448549" y="2056063"/>
            <a:ext cx="1417344" cy="1612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7BA90-DF7B-AAB2-6693-E2EC297A8991}"/>
              </a:ext>
            </a:extLst>
          </p:cNvPr>
          <p:cNvSpPr/>
          <p:nvPr/>
        </p:nvSpPr>
        <p:spPr>
          <a:xfrm>
            <a:off x="1375604" y="5078663"/>
            <a:ext cx="3169691" cy="1517732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Commonly used to group content together, like paragraphs, images, or other elements.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5F89A5-433F-24CF-3AC1-D295F59A6B06}"/>
              </a:ext>
            </a:extLst>
          </p:cNvPr>
          <p:cNvSpPr/>
          <p:nvPr/>
        </p:nvSpPr>
        <p:spPr>
          <a:xfrm>
            <a:off x="4743449" y="5078663"/>
            <a:ext cx="2705099" cy="150790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Often used for styling text, such as changing the color or font of a specific word.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4D5154-9284-252C-1536-D5B802697CA6}"/>
              </a:ext>
            </a:extLst>
          </p:cNvPr>
          <p:cNvSpPr/>
          <p:nvPr/>
        </p:nvSpPr>
        <p:spPr>
          <a:xfrm>
            <a:off x="7646692" y="5078663"/>
            <a:ext cx="3169691" cy="150790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Useful for creating layouts where you want elements to sit next to each other but still have control over their dimensions.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71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24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D417-2A9D-0CE1-6638-B6FE4B4B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426291D-1468-CB6B-C2F0-5DAB39E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36" y="370658"/>
            <a:ext cx="10822233" cy="1143200"/>
          </a:xfrm>
        </p:spPr>
        <p:txBody>
          <a:bodyPr/>
          <a:lstStyle/>
          <a:p>
            <a:r>
              <a:rPr lang="en-US" dirty="0"/>
              <a:t>&lt;div&gt;&lt;/div&gt;</a:t>
            </a:r>
            <a:endParaRPr lang="en-IN" dirty="0"/>
          </a:p>
        </p:txBody>
      </p:sp>
      <p:sp>
        <p:nvSpPr>
          <p:cNvPr id="13" name="Content Placeholder 42">
            <a:extLst>
              <a:ext uri="{FF2B5EF4-FFF2-40B4-BE49-F238E27FC236}">
                <a16:creationId xmlns:a16="http://schemas.microsoft.com/office/drawing/2014/main" id="{45DF9776-046C-5B0F-EC44-0E45BE8BC014}"/>
              </a:ext>
            </a:extLst>
          </p:cNvPr>
          <p:cNvSpPr txBox="1">
            <a:spLocks/>
          </p:cNvSpPr>
          <p:nvPr/>
        </p:nvSpPr>
        <p:spPr>
          <a:xfrm>
            <a:off x="2385508" y="1576868"/>
            <a:ext cx="6844333" cy="1026749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Generic Content Division HTML element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F7B35D5B-1821-E5E6-6163-474F6E5D009E}"/>
              </a:ext>
            </a:extLst>
          </p:cNvPr>
          <p:cNvSpPr txBox="1">
            <a:spLocks/>
          </p:cNvSpPr>
          <p:nvPr/>
        </p:nvSpPr>
        <p:spPr>
          <a:xfrm>
            <a:off x="2385508" y="2729638"/>
            <a:ext cx="6844333" cy="84532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Block Type Container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C144F4-CBAE-BF91-2EB9-41F637D5E7E8}"/>
              </a:ext>
            </a:extLst>
          </p:cNvPr>
          <p:cNvSpPr/>
          <p:nvPr/>
        </p:nvSpPr>
        <p:spPr>
          <a:xfrm>
            <a:off x="3657598" y="4744995"/>
            <a:ext cx="4300151" cy="181297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1F4809-A8CC-40D7-A9A2-2BECB28F2B3C}"/>
              </a:ext>
            </a:extLst>
          </p:cNvPr>
          <p:cNvSpPr/>
          <p:nvPr/>
        </p:nvSpPr>
        <p:spPr>
          <a:xfrm>
            <a:off x="3914491" y="4885546"/>
            <a:ext cx="1482811" cy="407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text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7667CD-D26F-AC76-17FB-0268CCE4663D}"/>
              </a:ext>
            </a:extLst>
          </p:cNvPr>
          <p:cNvSpPr/>
          <p:nvPr/>
        </p:nvSpPr>
        <p:spPr>
          <a:xfrm>
            <a:off x="6108032" y="5225066"/>
            <a:ext cx="1482811" cy="40777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images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B63003-07BC-EE4E-AD45-CA2EF86545B5}"/>
              </a:ext>
            </a:extLst>
          </p:cNvPr>
          <p:cNvSpPr/>
          <p:nvPr/>
        </p:nvSpPr>
        <p:spPr>
          <a:xfrm>
            <a:off x="3955680" y="5842000"/>
            <a:ext cx="1779373" cy="52755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elements</a:t>
            </a:r>
            <a:endParaRPr lang="en-IN" dirty="0"/>
          </a:p>
        </p:txBody>
      </p:sp>
      <p:sp>
        <p:nvSpPr>
          <p:cNvPr id="9" name="Content Placeholder 42">
            <a:extLst>
              <a:ext uri="{FF2B5EF4-FFF2-40B4-BE49-F238E27FC236}">
                <a16:creationId xmlns:a16="http://schemas.microsoft.com/office/drawing/2014/main" id="{5E778D2A-26F4-4BEE-B9A6-0B6CAF4FE942}"/>
              </a:ext>
            </a:extLst>
          </p:cNvPr>
          <p:cNvSpPr txBox="1">
            <a:spLocks/>
          </p:cNvSpPr>
          <p:nvPr/>
        </p:nvSpPr>
        <p:spPr>
          <a:xfrm>
            <a:off x="2385508" y="3700622"/>
            <a:ext cx="6844333" cy="888862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Can contain-text, images, HTML elements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015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0F4C-D7FA-64F6-4CFE-67BECCAB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8E005DD6-5F40-8691-9793-84F9DF9D6FD4}"/>
              </a:ext>
            </a:extLst>
          </p:cNvPr>
          <p:cNvSpPr txBox="1"/>
          <p:nvPr/>
        </p:nvSpPr>
        <p:spPr>
          <a:xfrm>
            <a:off x="5502931" y="3614625"/>
            <a:ext cx="160060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90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2F2F2">
                  <a:lumMod val="90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88D34-8F00-D414-1D7E-F567307E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69" y="163311"/>
            <a:ext cx="10822233" cy="1143200"/>
          </a:xfrm>
        </p:spPr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5FB16358-F295-B041-9089-7A3AEB5D2595}"/>
              </a:ext>
            </a:extLst>
          </p:cNvPr>
          <p:cNvSpPr txBox="1">
            <a:spLocks/>
          </p:cNvSpPr>
          <p:nvPr/>
        </p:nvSpPr>
        <p:spPr>
          <a:xfrm>
            <a:off x="2447948" y="1540880"/>
            <a:ext cx="7746376" cy="83832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US" sz="2800" kern="0" dirty="0">
                <a:solidFill>
                  <a:srgbClr val="F2F2F2"/>
                </a:solidFill>
                <a:latin typeface="Consolas"/>
                <a:ea typeface="+mn-lt"/>
              </a:rPr>
              <a:t> Let’s try to visit </a:t>
            </a:r>
            <a:r>
              <a:rPr lang="en-US" sz="2800" kern="0" dirty="0" err="1">
                <a:solidFill>
                  <a:srgbClr val="F2F2F2"/>
                </a:solidFill>
                <a:latin typeface="Consolas"/>
                <a:ea typeface="+mn-lt"/>
              </a:rPr>
              <a:t>CoderOgres</a:t>
            </a:r>
            <a:r>
              <a:rPr lang="en-US" sz="2800" kern="0" dirty="0">
                <a:solidFill>
                  <a:srgbClr val="F2F2F2"/>
                </a:solidFill>
                <a:latin typeface="Consolas"/>
                <a:ea typeface="+mn-lt"/>
              </a:rPr>
              <a:t> website using its QR code.</a:t>
            </a:r>
            <a:endParaRPr lang="en-IN" sz="2800" kern="0" dirty="0">
              <a:solidFill>
                <a:srgbClr val="F2F2F2"/>
              </a:solidFill>
              <a:latin typeface="Consolas"/>
              <a:ea typeface="+mn-lt"/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12E759DA-B857-916D-0915-E63ABFAF2955}"/>
              </a:ext>
            </a:extLst>
          </p:cNvPr>
          <p:cNvSpPr/>
          <p:nvPr/>
        </p:nvSpPr>
        <p:spPr>
          <a:xfrm>
            <a:off x="1939922" y="1540880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4" name="Content Placeholder 42">
            <a:extLst>
              <a:ext uri="{FF2B5EF4-FFF2-40B4-BE49-F238E27FC236}">
                <a16:creationId xmlns:a16="http://schemas.microsoft.com/office/drawing/2014/main" id="{22053078-44B0-0593-262A-792AA9CB4596}"/>
              </a:ext>
            </a:extLst>
          </p:cNvPr>
          <p:cNvSpPr txBox="1">
            <a:spLocks/>
          </p:cNvSpPr>
          <p:nvPr/>
        </p:nvSpPr>
        <p:spPr>
          <a:xfrm>
            <a:off x="2447947" y="2678847"/>
            <a:ext cx="8299769" cy="935778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4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image link: </a:t>
            </a:r>
            <a:r>
              <a:rPr lang="en-US" sz="20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https://i.postimg.cc/7YfPXF38/frame.jpg</a:t>
            </a:r>
            <a:endParaRPr lang="en-US" sz="2800" kern="0" dirty="0">
              <a:solidFill>
                <a:srgbClr val="F2F2F2"/>
              </a:solidFill>
              <a:latin typeface="Consolas" panose="020B0609020204030204" pitchFamily="49" charset="0"/>
              <a:ea typeface="+mn-lt"/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6957E50B-2495-D84B-9FE5-E1654025CD1F}"/>
              </a:ext>
            </a:extLst>
          </p:cNvPr>
          <p:cNvSpPr/>
          <p:nvPr/>
        </p:nvSpPr>
        <p:spPr>
          <a:xfrm>
            <a:off x="1939922" y="2678847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06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1.66667E-6 -1.48148E-6 L 0.61485 -0.00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42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  <p:bldP spid="35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3C70-D7A8-070C-EEF9-9B68BA0D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409D553-3193-DE6C-BCD7-B4A4F016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&lt;span&gt;&lt;/span&gt;</a:t>
            </a:r>
            <a:endParaRPr lang="en-IN" dirty="0"/>
          </a:p>
        </p:txBody>
      </p:sp>
      <p:sp>
        <p:nvSpPr>
          <p:cNvPr id="13" name="Content Placeholder 42">
            <a:extLst>
              <a:ext uri="{FF2B5EF4-FFF2-40B4-BE49-F238E27FC236}">
                <a16:creationId xmlns:a16="http://schemas.microsoft.com/office/drawing/2014/main" id="{9F3A3159-04AB-D508-A85A-AADD527B1782}"/>
              </a:ext>
            </a:extLst>
          </p:cNvPr>
          <p:cNvSpPr txBox="1">
            <a:spLocks/>
          </p:cNvSpPr>
          <p:nvPr/>
        </p:nvSpPr>
        <p:spPr>
          <a:xfrm>
            <a:off x="2398520" y="1665593"/>
            <a:ext cx="6844333" cy="84532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Display properties: Inline Type </a:t>
            </a:r>
          </a:p>
        </p:txBody>
      </p:sp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589F36EA-4272-2D67-688E-FE25ADBCD0F6}"/>
              </a:ext>
            </a:extLst>
          </p:cNvPr>
          <p:cNvSpPr txBox="1">
            <a:spLocks/>
          </p:cNvSpPr>
          <p:nvPr/>
        </p:nvSpPr>
        <p:spPr>
          <a:xfrm>
            <a:off x="2398519" y="2823442"/>
            <a:ext cx="6844333" cy="845320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Used for styling text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0420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E5F7-8441-1E46-3780-91CC0A6A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AE3D205-6909-14E2-F6DC-288934FD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  <a:endParaRPr lang="en-IN" dirty="0"/>
          </a:p>
        </p:txBody>
      </p:sp>
      <p:sp>
        <p:nvSpPr>
          <p:cNvPr id="13" name="Content Placeholder 42">
            <a:extLst>
              <a:ext uri="{FF2B5EF4-FFF2-40B4-BE49-F238E27FC236}">
                <a16:creationId xmlns:a16="http://schemas.microsoft.com/office/drawing/2014/main" id="{4A4D7AAF-801B-5975-5DCE-A09B6530F71B}"/>
              </a:ext>
            </a:extLst>
          </p:cNvPr>
          <p:cNvSpPr txBox="1">
            <a:spLocks/>
          </p:cNvSpPr>
          <p:nvPr/>
        </p:nvSpPr>
        <p:spPr>
          <a:xfrm>
            <a:off x="1620045" y="1776805"/>
            <a:ext cx="9290971" cy="128767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en-US" sz="1600" dirty="0"/>
              <a:t>Text:</a:t>
            </a:r>
          </a:p>
          <a:p>
            <a:pPr>
              <a:buNone/>
            </a:pPr>
            <a:r>
              <a:rPr lang="en-US" sz="1600" dirty="0"/>
              <a:t>Alice went to the park with her friend Bob. They saw a squirrel near the Maple Tree and laughed together. Later, Alice and Bob bought ice cream from a vendor named Mr. Smith.</a:t>
            </a:r>
          </a:p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16" name="Content Placeholder 42">
            <a:extLst>
              <a:ext uri="{FF2B5EF4-FFF2-40B4-BE49-F238E27FC236}">
                <a16:creationId xmlns:a16="http://schemas.microsoft.com/office/drawing/2014/main" id="{4E9BB634-5FB1-1D8A-E088-4C3BA628E2A0}"/>
              </a:ext>
            </a:extLst>
          </p:cNvPr>
          <p:cNvSpPr txBox="1">
            <a:spLocks/>
          </p:cNvSpPr>
          <p:nvPr/>
        </p:nvSpPr>
        <p:spPr>
          <a:xfrm>
            <a:off x="1663292" y="3422822"/>
            <a:ext cx="9204475" cy="1287672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Task: Let's span all the names in the above text.</a:t>
            </a:r>
          </a:p>
        </p:txBody>
      </p:sp>
    </p:spTree>
    <p:extLst>
      <p:ext uri="{BB962C8B-B14F-4D97-AF65-F5344CB8AC3E}">
        <p14:creationId xmlns:p14="http://schemas.microsoft.com/office/powerpoint/2010/main" val="983101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98EBC-03B3-47F8-9ED5-595F6C3F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2186032-FF30-8246-6577-4DA52285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C80FF-665D-BD05-920C-9E597EA6A556}"/>
              </a:ext>
            </a:extLst>
          </p:cNvPr>
          <p:cNvSpPr txBox="1"/>
          <p:nvPr/>
        </p:nvSpPr>
        <p:spPr>
          <a:xfrm>
            <a:off x="8866203" y="2310656"/>
            <a:ext cx="3325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Looks like navigation menu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5AF33-4B66-266E-CE9D-FA773AD84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375" y="2296117"/>
            <a:ext cx="6087325" cy="733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85433C-6DFF-2FE2-CD7E-92681CB06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9590" y="3980364"/>
            <a:ext cx="6068272" cy="80021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95051E-75A0-27CD-2F01-FAF88F34BA49}"/>
              </a:ext>
            </a:extLst>
          </p:cNvPr>
          <p:cNvCxnSpPr/>
          <p:nvPr/>
        </p:nvCxnSpPr>
        <p:spPr>
          <a:xfrm>
            <a:off x="8118389" y="2662880"/>
            <a:ext cx="6425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42CAC3-B225-40B4-3820-7102375BE1C7}"/>
              </a:ext>
            </a:extLst>
          </p:cNvPr>
          <p:cNvCxnSpPr/>
          <p:nvPr/>
        </p:nvCxnSpPr>
        <p:spPr>
          <a:xfrm>
            <a:off x="7928700" y="4378409"/>
            <a:ext cx="6425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2068EF-E1A9-23EC-B027-E36805F6B859}"/>
              </a:ext>
            </a:extLst>
          </p:cNvPr>
          <p:cNvSpPr txBox="1"/>
          <p:nvPr/>
        </p:nvSpPr>
        <p:spPr>
          <a:xfrm>
            <a:off x="8571252" y="4176634"/>
            <a:ext cx="3325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Navigation menu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159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611A-F137-6E90-6F14-B0FDEB93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5DBBDF4-6892-D431-41F2-EB8FBD9A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884" y="155652"/>
            <a:ext cx="10822233" cy="1143200"/>
          </a:xfrm>
        </p:spPr>
        <p:txBody>
          <a:bodyPr/>
          <a:lstStyle/>
          <a:p>
            <a:r>
              <a:rPr lang="en-US" dirty="0"/>
              <a:t>Structural HTML document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45237A-7218-CEB7-A801-E4B47625B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65" y="1274671"/>
            <a:ext cx="11848070" cy="545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29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96E69-33A5-09A8-92B1-3E9BF5AA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B5D0EBF-286E-6BE0-116E-F373355B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Structured HTML document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36E68B-22CE-207A-A30B-C9F41CC2C242}"/>
              </a:ext>
            </a:extLst>
          </p:cNvPr>
          <p:cNvSpPr/>
          <p:nvPr/>
        </p:nvSpPr>
        <p:spPr>
          <a:xfrm>
            <a:off x="2075935" y="1443233"/>
            <a:ext cx="8241957" cy="5807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&lt;header&gt;&lt;/header&gt; - Used for introductory content(text/video)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12BD7-AFC1-6AD4-CA54-998D9EA45F93}"/>
              </a:ext>
            </a:extLst>
          </p:cNvPr>
          <p:cNvSpPr/>
          <p:nvPr/>
        </p:nvSpPr>
        <p:spPr>
          <a:xfrm>
            <a:off x="2075935" y="2137719"/>
            <a:ext cx="8241957" cy="69197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Navigation Bar &lt;nav&gt;&lt;/nav&gt;                Home  About Us   Product   Contact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8017E2-8186-70CC-634A-A16085E2D1A5}"/>
              </a:ext>
            </a:extLst>
          </p:cNvPr>
          <p:cNvSpPr/>
          <p:nvPr/>
        </p:nvSpPr>
        <p:spPr>
          <a:xfrm>
            <a:off x="2075935" y="2917448"/>
            <a:ext cx="6091882" cy="3270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CBBC3-7C3E-0523-B5BB-B5F9C1E07C2C}"/>
              </a:ext>
            </a:extLst>
          </p:cNvPr>
          <p:cNvSpPr/>
          <p:nvPr/>
        </p:nvSpPr>
        <p:spPr>
          <a:xfrm>
            <a:off x="2075934" y="6221417"/>
            <a:ext cx="8241957" cy="322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Footer&lt;footer&gt;&lt;/footer&gt; 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08E9AD-8A3A-01E9-1754-173EC46E9E8D}"/>
              </a:ext>
            </a:extLst>
          </p:cNvPr>
          <p:cNvSpPr/>
          <p:nvPr/>
        </p:nvSpPr>
        <p:spPr>
          <a:xfrm>
            <a:off x="8266670" y="2928550"/>
            <a:ext cx="2051222" cy="32595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&lt;aside&gt;</a:t>
            </a:r>
          </a:p>
          <a:p>
            <a:pPr algn="ctr"/>
            <a:r>
              <a:rPr lang="en-IN" dirty="0"/>
              <a:t>Standalone Information</a:t>
            </a:r>
          </a:p>
          <a:p>
            <a:pPr algn="ctr"/>
            <a:r>
              <a:rPr lang="en-IN" dirty="0"/>
              <a:t>&lt;/aside&gt;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7D04D-A2A2-A8B2-AE70-74345F8A550C}"/>
              </a:ext>
            </a:extLst>
          </p:cNvPr>
          <p:cNvSpPr/>
          <p:nvPr/>
        </p:nvSpPr>
        <p:spPr>
          <a:xfrm>
            <a:off x="2075935" y="3297883"/>
            <a:ext cx="6091882" cy="840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&lt;article&gt;represents information about the web page&lt;/article&gt;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EA158D-038B-0974-46F7-30582C79CCC0}"/>
              </a:ext>
            </a:extLst>
          </p:cNvPr>
          <p:cNvSpPr txBox="1"/>
          <p:nvPr/>
        </p:nvSpPr>
        <p:spPr>
          <a:xfrm>
            <a:off x="2075935" y="2928551"/>
            <a:ext cx="496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&lt;main&gt;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represents main body of the web page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65436-3914-ABB5-CF71-1C1ACD5F0B03}"/>
              </a:ext>
            </a:extLst>
          </p:cNvPr>
          <p:cNvSpPr/>
          <p:nvPr/>
        </p:nvSpPr>
        <p:spPr>
          <a:xfrm>
            <a:off x="2075935" y="4225894"/>
            <a:ext cx="6091882" cy="8402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&lt;section&gt;represents information supporting article content&lt;/section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CA0D5-34B8-C6B2-437A-9D509A05E9B1}"/>
              </a:ext>
            </a:extLst>
          </p:cNvPr>
          <p:cNvSpPr/>
          <p:nvPr/>
        </p:nvSpPr>
        <p:spPr>
          <a:xfrm>
            <a:off x="2075935" y="5126800"/>
            <a:ext cx="6091882" cy="8402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&lt;section&gt;represents information supporting article content&lt;/section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BCCD1-D8F9-E4D3-E342-C78797163203}"/>
              </a:ext>
            </a:extLst>
          </p:cNvPr>
          <p:cNvSpPr txBox="1"/>
          <p:nvPr/>
        </p:nvSpPr>
        <p:spPr>
          <a:xfrm>
            <a:off x="2075935" y="5892919"/>
            <a:ext cx="2261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&lt;/main&gt;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876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57F3-F3DD-D106-C674-D8AF1E1F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semantic tags?</a:t>
            </a:r>
            <a:endParaRPr lang="en-IN" dirty="0"/>
          </a:p>
        </p:txBody>
      </p:sp>
      <p:sp>
        <p:nvSpPr>
          <p:cNvPr id="3" name="Content Placeholder 42">
            <a:extLst>
              <a:ext uri="{FF2B5EF4-FFF2-40B4-BE49-F238E27FC236}">
                <a16:creationId xmlns:a16="http://schemas.microsoft.com/office/drawing/2014/main" id="{567BB0EC-3754-2331-1CDA-D1C17EE4C6F5}"/>
              </a:ext>
            </a:extLst>
          </p:cNvPr>
          <p:cNvSpPr txBox="1">
            <a:spLocks/>
          </p:cNvSpPr>
          <p:nvPr/>
        </p:nvSpPr>
        <p:spPr>
          <a:xfrm>
            <a:off x="2620943" y="1800372"/>
            <a:ext cx="7746376" cy="71259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Organized structure of the content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56BB241F-44C4-F10F-C63E-AD168A6151FE}"/>
              </a:ext>
            </a:extLst>
          </p:cNvPr>
          <p:cNvSpPr/>
          <p:nvPr/>
        </p:nvSpPr>
        <p:spPr>
          <a:xfrm>
            <a:off x="2112917" y="1800372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0372AF3D-1BC1-355C-1BC5-B2CB265D8FA5}"/>
              </a:ext>
            </a:extLst>
          </p:cNvPr>
          <p:cNvSpPr txBox="1">
            <a:spLocks/>
          </p:cNvSpPr>
          <p:nvPr/>
        </p:nvSpPr>
        <p:spPr>
          <a:xfrm>
            <a:off x="2620943" y="2938339"/>
            <a:ext cx="7746376" cy="71259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nsolas" panose="020B0609020204030204" pitchFamily="49" charset="0"/>
                <a:ea typeface="+mn-lt"/>
                <a:cs typeface="Arial"/>
                <a:sym typeface="Arial"/>
              </a:rPr>
              <a:t>Accessibility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CD520DAE-90D3-18FD-A459-F9DA1EE3A5CF}"/>
              </a:ext>
            </a:extLst>
          </p:cNvPr>
          <p:cNvSpPr/>
          <p:nvPr/>
        </p:nvSpPr>
        <p:spPr>
          <a:xfrm>
            <a:off x="2112917" y="2938339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  <p:sp>
        <p:nvSpPr>
          <p:cNvPr id="7" name="Content Placeholder 42">
            <a:extLst>
              <a:ext uri="{FF2B5EF4-FFF2-40B4-BE49-F238E27FC236}">
                <a16:creationId xmlns:a16="http://schemas.microsoft.com/office/drawing/2014/main" id="{7B335FF8-904C-093A-EC8A-182225437016}"/>
              </a:ext>
            </a:extLst>
          </p:cNvPr>
          <p:cNvSpPr txBox="1">
            <a:spLocks/>
          </p:cNvSpPr>
          <p:nvPr/>
        </p:nvSpPr>
        <p:spPr>
          <a:xfrm>
            <a:off x="2748630" y="4076306"/>
            <a:ext cx="7618689" cy="712591"/>
          </a:xfrm>
          <a:prstGeom prst="snip1Rect">
            <a:avLst/>
          </a:prstGeom>
          <a:solidFill>
            <a:srgbClr val="32696C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792" marR="0" lvl="0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609585" marR="0" lvl="1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tabLst>
                <a:tab pos="609585" algn="l"/>
              </a:tabLst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2pPr>
            <a:lvl3pPr marL="914377" marR="0" lvl="2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3pPr>
            <a:lvl4pPr marL="1219170" marR="0" lvl="3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4pPr>
            <a:lvl5pPr marL="1523962" marR="0" lvl="4" indent="-304792" algn="l" defTabSz="609585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Font typeface="Wingdings" panose="05000000000000000000" pitchFamily="2" charset="2"/>
              <a:buChar char="§"/>
              <a:defRPr sz="3200" b="0" i="0" u="none" strike="noStrike" cap="none">
                <a:solidFill>
                  <a:schemeClr val="bg1">
                    <a:lumMod val="95000"/>
                  </a:schemeClr>
                </a:solidFill>
                <a:latin typeface="+mn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165" marR="0" lvl="1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>
                  <a:lumMod val="95000"/>
                </a:srgbClr>
              </a:buClr>
              <a:buSzTx/>
              <a:buFont typeface="Wingdings" panose="05000000000000000000" pitchFamily="2" charset="2"/>
              <a:buNone/>
              <a:tabLst>
                <a:tab pos="609585" algn="l"/>
              </a:tabLst>
              <a:defRPr/>
            </a:pPr>
            <a:r>
              <a:rPr lang="en-US" sz="2800" kern="0" dirty="0">
                <a:solidFill>
                  <a:srgbClr val="F2F2F2"/>
                </a:solidFill>
                <a:latin typeface="Consolas" panose="020B0609020204030204" pitchFamily="49" charset="0"/>
                <a:ea typeface="+mn-lt"/>
              </a:rPr>
              <a:t>Browser friendly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Consolas" panose="020B0609020204030204" pitchFamily="49" charset="0"/>
              <a:ea typeface="+mn-lt"/>
              <a:cs typeface="Arial"/>
              <a:sym typeface="Arial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5064FC28-EF6B-2EF2-02B2-D5C9B2F5530D}"/>
              </a:ext>
            </a:extLst>
          </p:cNvPr>
          <p:cNvSpPr/>
          <p:nvPr/>
        </p:nvSpPr>
        <p:spPr>
          <a:xfrm>
            <a:off x="2202548" y="4076306"/>
            <a:ext cx="836790" cy="712591"/>
          </a:xfrm>
          <a:prstGeom prst="hexagon">
            <a:avLst/>
          </a:prstGeom>
          <a:solidFill>
            <a:srgbClr val="469498"/>
          </a:solidFill>
          <a:ln>
            <a:solidFill>
              <a:srgbClr val="1226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103C3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1606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EFE9-FE77-045D-E035-41D7F7FF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523D522-4C79-E1E3-628B-FDE40300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- My favorite pet/hobby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E9650-4841-B486-9BFB-C4AFE4D6834A}"/>
              </a:ext>
            </a:extLst>
          </p:cNvPr>
          <p:cNvSpPr/>
          <p:nvPr/>
        </p:nvSpPr>
        <p:spPr>
          <a:xfrm>
            <a:off x="2075935" y="1443233"/>
            <a:ext cx="8241957" cy="5807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Catchy heading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C8B90-6526-6AD2-B7B8-7FF2AD3445EF}"/>
              </a:ext>
            </a:extLst>
          </p:cNvPr>
          <p:cNvSpPr/>
          <p:nvPr/>
        </p:nvSpPr>
        <p:spPr>
          <a:xfrm>
            <a:off x="2075935" y="2137719"/>
            <a:ext cx="8241957" cy="69197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                                       Home        Breeds        My Pet                   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411DD-2653-EEED-7B8C-738C7D004C62}"/>
              </a:ext>
            </a:extLst>
          </p:cNvPr>
          <p:cNvSpPr/>
          <p:nvPr/>
        </p:nvSpPr>
        <p:spPr>
          <a:xfrm>
            <a:off x="2075935" y="2917448"/>
            <a:ext cx="6091882" cy="3270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052DBA-1341-5F86-274E-D3A45127C17E}"/>
              </a:ext>
            </a:extLst>
          </p:cNvPr>
          <p:cNvSpPr/>
          <p:nvPr/>
        </p:nvSpPr>
        <p:spPr>
          <a:xfrm>
            <a:off x="2075934" y="6221417"/>
            <a:ext cx="8241957" cy="322414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Footer&lt;footer&gt;&lt;/footer&gt; </a:t>
            </a:r>
            <a:endParaRPr lang="en-IN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44D6C-26A0-4EAC-5400-207B85620D6F}"/>
              </a:ext>
            </a:extLst>
          </p:cNvPr>
          <p:cNvSpPr/>
          <p:nvPr/>
        </p:nvSpPr>
        <p:spPr>
          <a:xfrm>
            <a:off x="8266670" y="2928550"/>
            <a:ext cx="2051222" cy="325955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Fun Facts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A6133-6599-DC3D-BEA6-8A4509EB5ED8}"/>
              </a:ext>
            </a:extLst>
          </p:cNvPr>
          <p:cNvSpPr/>
          <p:nvPr/>
        </p:nvSpPr>
        <p:spPr>
          <a:xfrm>
            <a:off x="2075935" y="3297883"/>
            <a:ext cx="6091882" cy="840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Introduction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CDFAC1-3565-F8EF-F6F2-8B53991BC749}"/>
              </a:ext>
            </a:extLst>
          </p:cNvPr>
          <p:cNvSpPr txBox="1"/>
          <p:nvPr/>
        </p:nvSpPr>
        <p:spPr>
          <a:xfrm>
            <a:off x="2075935" y="2928551"/>
            <a:ext cx="4967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&lt;main&gt;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represents main body of the web page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C7B88-61BB-317C-9271-88FC7D40CF40}"/>
              </a:ext>
            </a:extLst>
          </p:cNvPr>
          <p:cNvSpPr/>
          <p:nvPr/>
        </p:nvSpPr>
        <p:spPr>
          <a:xfrm>
            <a:off x="2075935" y="4225894"/>
            <a:ext cx="6091882" cy="8402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Supporting text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36823-A997-454E-43DE-656EE957C708}"/>
              </a:ext>
            </a:extLst>
          </p:cNvPr>
          <p:cNvSpPr/>
          <p:nvPr/>
        </p:nvSpPr>
        <p:spPr>
          <a:xfrm>
            <a:off x="2075935" y="5126800"/>
            <a:ext cx="6091882" cy="8402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Supporting text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11CB8-284E-F7E3-99FF-D4D9401F70BC}"/>
              </a:ext>
            </a:extLst>
          </p:cNvPr>
          <p:cNvSpPr txBox="1"/>
          <p:nvPr/>
        </p:nvSpPr>
        <p:spPr>
          <a:xfrm>
            <a:off x="2075935" y="5892919"/>
            <a:ext cx="2261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&lt;/main&gt;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812516"/>
      </p:ext>
    </p:extLst>
  </p:cSld>
  <p:clrMapOvr>
    <a:masterClrMapping/>
  </p:clrMapOvr>
</p:sld>
</file>

<file path=ppt/theme/theme1.xml><?xml version="1.0" encoding="utf-8"?>
<a:theme xmlns:a="http://schemas.openxmlformats.org/drawingml/2006/main" name="cheors_theme">
  <a:themeElements>
    <a:clrScheme name="cheors_theme_colors">
      <a:dk1>
        <a:srgbClr val="103C3F"/>
      </a:dk1>
      <a:lt1>
        <a:srgbClr val="F2F2F2"/>
      </a:lt1>
      <a:dk2>
        <a:srgbClr val="244C4E"/>
      </a:dk2>
      <a:lt2>
        <a:srgbClr val="3E666A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Dosis">
      <a:majorFont>
        <a:latin typeface="Dosis"/>
        <a:ea typeface=""/>
        <a:cs typeface=""/>
      </a:majorFont>
      <a:minorFont>
        <a:latin typeface="Dos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2"/>
        </a:solidFill>
        <a:ln>
          <a:solidFill>
            <a:schemeClr val="bg1">
              <a:lumMod val="10000"/>
            </a:schemeClr>
          </a:solidFill>
        </a:ln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kern="1200" cap="none" spc="0" normalizeH="0" baseline="0" noProof="0" dirty="0">
            <a:ln>
              <a:noFill/>
            </a:ln>
            <a:solidFill>
              <a:srgbClr val="F2F2F2"/>
            </a:solidFill>
            <a:effectLst/>
            <a:uLnTx/>
            <a:uFillTx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heors_theme" id="{CD4D19F9-7B22-4C9A-85E6-815708D44334}" vid="{C8037789-E8D3-40EF-8ECA-CD87BFF3C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eors_theme_colors">
    <a:dk1>
      <a:srgbClr val="103C3F"/>
    </a:dk1>
    <a:lt1>
      <a:srgbClr val="F2F2F2"/>
    </a:lt1>
    <a:dk2>
      <a:srgbClr val="244C4E"/>
    </a:dk2>
    <a:lt2>
      <a:srgbClr val="3E666A"/>
    </a:lt2>
    <a:accent1>
      <a:srgbClr val="569CD6"/>
    </a:accent1>
    <a:accent2>
      <a:srgbClr val="DB5151"/>
    </a:accent2>
    <a:accent3>
      <a:srgbClr val="B5CEA8"/>
    </a:accent3>
    <a:accent4>
      <a:srgbClr val="9090AE"/>
    </a:accent4>
    <a:accent5>
      <a:srgbClr val="C586C0"/>
    </a:accent5>
    <a:accent6>
      <a:srgbClr val="FFD0A1"/>
    </a:accent6>
    <a:hlink>
      <a:srgbClr val="53CBD3"/>
    </a:hlink>
    <a:folHlink>
      <a:srgbClr val="53CBD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3344</TotalTime>
  <Words>2462</Words>
  <Application>Microsoft Office PowerPoint</Application>
  <PresentationFormat>Widescreen</PresentationFormat>
  <Paragraphs>347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Consolas</vt:lpstr>
      <vt:lpstr>Dosis</vt:lpstr>
      <vt:lpstr>Wingdings</vt:lpstr>
      <vt:lpstr>cheors_theme</vt:lpstr>
      <vt:lpstr> HTML: Introduction to Lists, Links, Structure, Display</vt:lpstr>
      <vt:lpstr>Lists in HTML</vt:lpstr>
      <vt:lpstr>&lt;ul&gt;&lt;/ul&gt; </vt:lpstr>
      <vt:lpstr>&lt;li&gt;&lt;/li&gt; </vt:lpstr>
      <vt:lpstr>&lt;ol&gt;&lt;/ol&gt; </vt:lpstr>
      <vt:lpstr>&lt;dl&gt;&lt;/dl&gt; </vt:lpstr>
      <vt:lpstr>Execution </vt:lpstr>
      <vt:lpstr>Attributes- type</vt:lpstr>
      <vt:lpstr>Activity</vt:lpstr>
      <vt:lpstr>&lt;img&gt;&lt;/img&gt;</vt:lpstr>
      <vt:lpstr>Hyperlink</vt:lpstr>
      <vt:lpstr>How to link?</vt:lpstr>
      <vt:lpstr>Anchor tag :&lt;a&gt;&lt;/a&gt;</vt:lpstr>
      <vt:lpstr>Link tag:&lt;link /&gt;</vt:lpstr>
      <vt:lpstr>Content Display Types</vt:lpstr>
      <vt:lpstr>&lt;div&gt;&lt;/div&gt;</vt:lpstr>
      <vt:lpstr>Activity</vt:lpstr>
      <vt:lpstr>&lt;span&gt;&lt;/span&gt;</vt:lpstr>
      <vt:lpstr>Activity</vt:lpstr>
      <vt:lpstr>PowerPoint Presentation</vt:lpstr>
      <vt:lpstr>Structural HTML document</vt:lpstr>
      <vt:lpstr> Structured HTML document</vt:lpstr>
      <vt:lpstr>Why semantic tags?</vt:lpstr>
      <vt:lpstr>Activity - My favorite pet/hobby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Vanjani</dc:creator>
  <cp:lastModifiedBy>dylan connolly</cp:lastModifiedBy>
  <cp:revision>35</cp:revision>
  <dcterms:created xsi:type="dcterms:W3CDTF">2025-05-13T00:08:16Z</dcterms:created>
  <dcterms:modified xsi:type="dcterms:W3CDTF">2025-07-18T02:54:10Z</dcterms:modified>
</cp:coreProperties>
</file>