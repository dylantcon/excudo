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179F01-7D76-494A-BF74-DD615D58737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6" autoAdjust="0"/>
  </p:normalViewPr>
  <p:slideViewPr>
    <p:cSldViewPr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B565F-7A69-48D5-85FB-666D01DD042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61471-56E7-4B15-99FF-66792BEE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4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61471-56E7-4B15-99FF-66792BEEA3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6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61471-56E7-4B15-99FF-66792BEEA3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3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ubtitle 3"/>
          <p:cNvSpPr>
            <a:spLocks noGrp="1"/>
          </p:cNvSpPr>
          <p:nvPr>
            <p:ph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4838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laceholder 4"/>
          <p:cNvSpPr>
            <a:spLocks noGrp="1"/>
          </p:cNvSpPr>
          <p:nvPr>
            <p:ph idx="2"/>
          </p:nvPr>
        </p:nvSpPr>
        <p:spPr>
          <a:xfrm>
            <a:off x="6515100" y="1825625"/>
            <a:ext cx="4838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2174875"/>
            <a:ext cx="48387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laceholder 4"/>
          <p:cNvSpPr>
            <a:spLocks noGrp="1"/>
          </p:cNvSpPr>
          <p:nvPr>
            <p:ph idx="2"/>
          </p:nvPr>
        </p:nvSpPr>
        <p:spPr>
          <a:xfrm>
            <a:off x="838200" y="3317875"/>
            <a:ext cx="4838700" cy="28587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laceholder 5"/>
          <p:cNvSpPr>
            <a:spLocks noGrp="1"/>
          </p:cNvSpPr>
          <p:nvPr>
            <p:ph idx="3"/>
          </p:nvPr>
        </p:nvSpPr>
        <p:spPr>
          <a:xfrm>
            <a:off x="6515100" y="2174875"/>
            <a:ext cx="48387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laceholder 6"/>
          <p:cNvSpPr>
            <a:spLocks noGrp="1"/>
          </p:cNvSpPr>
          <p:nvPr>
            <p:ph idx="4"/>
          </p:nvPr>
        </p:nvSpPr>
        <p:spPr>
          <a:xfrm>
            <a:off x="6515100" y="3317875"/>
            <a:ext cx="4838700" cy="28587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laceholder 4"/>
          <p:cNvSpPr>
            <a:spLocks noGrp="1"/>
          </p:cNvSpPr>
          <p:nvPr>
            <p:ph idx="2"/>
          </p:nvPr>
        </p:nvSpPr>
        <p:spPr>
          <a:xfrm>
            <a:off x="4800600" y="1825625"/>
            <a:ext cx="65532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itleAnd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0"/>
        </a:spcAft>
        <a:buFont typeface="Wingdings" panose="020B0604020202020204" pitchFamily="34" charset="0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ctrTitle"/>
          </p:nvPr>
        </p:nvSpPr>
        <p:spPr>
          <a:xfrm>
            <a:off x="398124" y="1811394"/>
            <a:ext cx="5697876" cy="990600"/>
          </a:xfrm>
        </p:spPr>
        <p:txBody>
          <a:bodyPr>
            <a:noAutofit/>
          </a:bodyPr>
          <a:lstStyle/>
          <a:p>
            <a:r>
              <a:rPr lang="en-US" sz="4000" b="1" dirty="0"/>
              <a:t>The Anatomy of a PowerPoint File</a:t>
            </a:r>
          </a:p>
        </p:txBody>
      </p:sp>
      <p:sp>
        <p:nvSpPr>
          <p:cNvPr id="3" name="Subtitle Shape"/>
          <p:cNvSpPr>
            <a:spLocks noGrp="1"/>
          </p:cNvSpPr>
          <p:nvPr>
            <p:ph type="subTitle"/>
          </p:nvPr>
        </p:nvSpPr>
        <p:spPr>
          <a:xfrm>
            <a:off x="426378" y="3007709"/>
            <a:ext cx="5410200" cy="450688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lt1"/>
                </a:solidFill>
              </a:rPr>
              <a:t>Office Open Extensible Markup Language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943600" y="0"/>
            <a:ext cx="6248400" cy="6858000"/>
            <a:chOff x="5200000" y="1300000"/>
            <a:chExt cx="5253574" cy="4800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LineNumbers"/>
            <p:cNvSpPr/>
            <p:nvPr/>
          </p:nvSpPr>
          <p:spPr>
            <a:xfrm>
              <a:off x="5200000" y="1300000"/>
              <a:ext cx="274945" cy="48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137160" rIns="45720" bIns="4572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2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3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4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5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6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7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8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9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10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11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12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13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14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15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16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17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18</a:t>
              </a:r>
            </a:p>
            <a:p>
              <a:pPr algn="r">
                <a:lnSpc>
                  <a:spcPct val="150000"/>
                </a:lnSpc>
              </a:pPr>
              <a:r>
                <a:rPr lang="en-US" sz="1500" dirty="0">
                  <a:solidFill>
                    <a:srgbClr val="858585"/>
                  </a:solidFill>
                  <a:latin typeface="Consolas"/>
                </a:rPr>
                <a:t>19</a:t>
              </a:r>
            </a:p>
            <a:p>
              <a:pPr algn="r">
                <a:lnSpc>
                  <a:spcPct val="150000"/>
                </a:lnSpc>
              </a:pPr>
              <a:endParaRPr lang="en-US" sz="1500" dirty="0">
                <a:solidFill>
                  <a:srgbClr val="858585"/>
                </a:solidFill>
                <a:latin typeface="Consolas"/>
              </a:endParaRPr>
            </a:p>
          </p:txBody>
        </p:sp>
        <p:sp>
          <p:nvSpPr>
            <p:cNvPr id="5" name="Code"/>
            <p:cNvSpPr/>
            <p:nvPr/>
          </p:nvSpPr>
          <p:spPr>
            <a:xfrm>
              <a:off x="5474944" y="1300000"/>
              <a:ext cx="4978630" cy="48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137160" rIns="45720" bIns="4572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&lt;?xml version="1.0" encoding="UTF-8"?&gt;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sld</a:t>
              </a:r>
              <a:r>
                <a:rPr lang="en-US" sz="1500" b="1" dirty="0">
                  <a:solidFill>
                    <a:srgbClr val="93E0E3"/>
                  </a:solidFill>
                  <a:latin typeface="Consolas"/>
                </a:rPr>
                <a:t> 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xmlns:</a:t>
              </a:r>
              <a:r>
                <a:rPr lang="en-US" sz="1500" b="1" dirty="0" err="1">
                  <a:solidFill>
                    <a:srgbClr val="DFAF8F"/>
                  </a:solidFill>
                  <a:latin typeface="Consolas"/>
                </a:rPr>
                <a:t>p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="</a:t>
              </a:r>
              <a:r>
                <a:rPr lang="en-US" sz="1500" b="1" dirty="0">
                  <a:solidFill>
                    <a:srgbClr val="DCA3A3"/>
                  </a:solidFill>
                  <a:latin typeface="Consolas"/>
                </a:rPr>
                <a:t>http://schemas.openxmlformats.org/...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"&gt;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cSld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spTree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sp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nvSpPr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cNvPr</a:t>
              </a:r>
              <a:r>
                <a:rPr lang="en-US" sz="1500" b="1" dirty="0">
                  <a:solidFill>
                    <a:srgbClr val="93E0E3"/>
                  </a:solidFill>
                  <a:latin typeface="Consolas"/>
                </a:rPr>
                <a:t> </a:t>
              </a:r>
              <a:r>
                <a:rPr lang="en-US" sz="1500" b="1" dirty="0">
                  <a:solidFill>
                    <a:srgbClr val="DFAF8F"/>
                  </a:solidFill>
                  <a:latin typeface="Consolas"/>
                </a:rPr>
                <a:t>id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="</a:t>
              </a:r>
              <a:r>
                <a:rPr lang="en-US" sz="1500" b="1" dirty="0">
                  <a:solidFill>
                    <a:srgbClr val="DCA3A3"/>
                  </a:solidFill>
                  <a:latin typeface="Consolas"/>
                </a:rPr>
                <a:t>2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"</a:t>
              </a:r>
              <a:r>
                <a:rPr lang="en-US" sz="1500" b="1" dirty="0">
                  <a:solidFill>
                    <a:srgbClr val="93E0E3"/>
                  </a:solidFill>
                  <a:latin typeface="Consolas"/>
                </a:rPr>
                <a:t> </a:t>
              </a:r>
              <a:r>
                <a:rPr lang="en-US" sz="1500" b="1" dirty="0">
                  <a:solidFill>
                    <a:srgbClr val="DFAF8F"/>
                  </a:solidFill>
                  <a:latin typeface="Consolas"/>
                </a:rPr>
                <a:t>name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="</a:t>
              </a:r>
              <a:r>
                <a:rPr lang="en-US" sz="1500" b="1" dirty="0">
                  <a:solidFill>
                    <a:srgbClr val="DCA3A3"/>
                  </a:solidFill>
                  <a:latin typeface="Consolas"/>
                </a:rPr>
                <a:t>Title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"/&gt;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nvSpPr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txBody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p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r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t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Hello, OOXML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t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r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a: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p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txBody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sp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spTree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DCDCCC"/>
                  </a:solidFill>
                  <a:latin typeface="Consolas"/>
                </a:rPr>
                <a:t>  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cSld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500" b="1" dirty="0" err="1">
                  <a:solidFill>
                    <a:srgbClr val="7CB8BB"/>
                  </a:solidFill>
                  <a:latin typeface="Consolas"/>
                </a:rPr>
                <a:t>p:</a:t>
              </a:r>
              <a:r>
                <a:rPr lang="en-US" sz="1500" b="1" dirty="0" err="1">
                  <a:solidFill>
                    <a:srgbClr val="93E0E3"/>
                  </a:solidFill>
                  <a:latin typeface="Consolas"/>
                </a:rPr>
                <a:t>sld</a:t>
              </a:r>
              <a:r>
                <a:rPr lang="en-US" sz="1500" b="1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</p:txBody>
        </p:sp>
      </p:grpSp>
      <p:sp>
        <p:nvSpPr>
          <p:cNvPr id="6" name="Subtitle Shape">
            <a:extLst>
              <a:ext uri="{FF2B5EF4-FFF2-40B4-BE49-F238E27FC236}">
                <a16:creationId xmlns:a16="http://schemas.microsoft.com/office/drawing/2014/main" id="{0707BBBA-C141-5C96-52A8-207E7D5BF63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13963" y="3529119"/>
            <a:ext cx="3657600" cy="357081"/>
          </a:xfrm>
        </p:spPr>
        <p:txBody>
          <a:bodyPr anchor="ctr">
            <a:normAutofit fontScale="77500" lnSpcReduction="20000"/>
          </a:bodyPr>
          <a:lstStyle/>
          <a:p>
            <a:pPr marL="27432"/>
            <a:r>
              <a:rPr lang="en-US" sz="2000" i="1" dirty="0">
                <a:solidFill>
                  <a:schemeClr val="tx2">
                    <a:lumMod val="75000"/>
                  </a:schemeClr>
                </a:solidFill>
              </a:rPr>
              <a:t>Dylan Connolly (connolly@cs.fsu.edu)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What's Inside?</a:t>
            </a:r>
          </a:p>
        </p:txBody>
      </p:sp>
      <p:sp>
        <p:nvSpPr>
          <p:cNvPr id="6" name="Shape"/>
          <p:cNvSpPr/>
          <p:nvPr/>
        </p:nvSpPr>
        <p:spPr>
          <a:xfrm>
            <a:off x="990600" y="4724400"/>
            <a:ext cx="8001000" cy="102282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i="1" dirty="0">
                <a:solidFill>
                  <a:srgbClr val="CCCCCC"/>
                </a:solidFill>
              </a:rPr>
              <a:t>Ever wondered what a `.pptx` file actually </a:t>
            </a:r>
            <a:r>
              <a:rPr lang="en-US" sz="2400" b="1" i="1" dirty="0">
                <a:solidFill>
                  <a:srgbClr val="CCCCCC"/>
                </a:solidFill>
              </a:rPr>
              <a:t>is</a:t>
            </a:r>
            <a:r>
              <a:rPr lang="en-US" sz="2400" i="1" dirty="0">
                <a:solidFill>
                  <a:srgbClr val="CCCCCC"/>
                </a:solidFill>
              </a:rPr>
              <a:t>?</a:t>
            </a:r>
          </a:p>
        </p:txBody>
      </p:sp>
      <p:sp>
        <p:nvSpPr>
          <p:cNvPr id="7" name="Shape"/>
          <p:cNvSpPr/>
          <p:nvPr/>
        </p:nvSpPr>
        <p:spPr>
          <a:xfrm>
            <a:off x="990600" y="4724400"/>
            <a:ext cx="8001000" cy="102282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3200" i="1" dirty="0">
                <a:solidFill>
                  <a:srgbClr val="CCCCCC"/>
                </a:solidFill>
              </a:rPr>
              <a:t>Well, that didn't help very much.</a:t>
            </a:r>
          </a:p>
        </p:txBody>
      </p:sp>
      <p:sp>
        <p:nvSpPr>
          <p:cNvPr id="8" name="Shape"/>
          <p:cNvSpPr/>
          <p:nvPr/>
        </p:nvSpPr>
        <p:spPr>
          <a:xfrm>
            <a:off x="990600" y="5590300"/>
            <a:ext cx="7010400" cy="11153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CCCCC"/>
                </a:solidFill>
              </a:rPr>
              <a:t>It's secretly a zip file, which we can decompress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CCCCC"/>
                </a:solidFill>
              </a:rPr>
              <a:t>Files everywhere. </a:t>
            </a:r>
            <a:r>
              <a:rPr lang="en-US" sz="2400" b="1" dirty="0">
                <a:solidFill>
                  <a:srgbClr val="CCCCCC"/>
                </a:solidFill>
              </a:rPr>
              <a:t>Why</a:t>
            </a:r>
            <a:r>
              <a:rPr lang="en-US" sz="2400" dirty="0">
                <a:solidFill>
                  <a:srgbClr val="CCCCCC"/>
                </a:solidFill>
              </a:rPr>
              <a:t>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D80779-33DE-1D47-9EF0-30066825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76400"/>
            <a:ext cx="8954750" cy="227679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BE04E5-7DDF-E62B-A03F-D3D76B4AC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20"/>
          <a:stretch>
            <a:fillRect/>
          </a:stretch>
        </p:blipFill>
        <p:spPr>
          <a:xfrm>
            <a:off x="1066800" y="1890742"/>
            <a:ext cx="8839200" cy="184810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73DFF1-F025-534A-B7F7-968B6A3D7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223" y="0"/>
            <a:ext cx="2986777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3F140A9-C78C-01F1-E361-E150C386A1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684584"/>
            <a:ext cx="6604000" cy="357433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Textual Data and XML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059450"/>
            <a:ext cx="4495800" cy="1391100"/>
            <a:chOff x="300000" y="1690000"/>
            <a:chExt cx="2109684" cy="140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LineNumbers"/>
            <p:cNvSpPr/>
            <p:nvPr/>
          </p:nvSpPr>
          <p:spPr>
            <a:xfrm>
              <a:off x="300000" y="1690000"/>
              <a:ext cx="183193" cy="14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45720" rIns="45720" bIns="45720">
              <a:noAutofit/>
            </a:bodyPr>
            <a:lstStyle/>
            <a:p>
              <a:pPr algn="r"/>
              <a:r>
                <a:rPr lang="en-US" sz="2800" dirty="0">
                  <a:solidFill>
                    <a:srgbClr val="858585"/>
                  </a:solidFill>
                  <a:latin typeface="Consolas"/>
                </a:rPr>
                <a:t>12</a:t>
              </a:r>
            </a:p>
            <a:p>
              <a:pPr algn="r"/>
              <a:r>
                <a:rPr lang="en-US" sz="2800" dirty="0">
                  <a:solidFill>
                    <a:srgbClr val="858585"/>
                  </a:solidFill>
                  <a:latin typeface="Consolas"/>
                </a:rPr>
                <a:t>3</a:t>
              </a:r>
            </a:p>
          </p:txBody>
        </p:sp>
        <p:sp>
          <p:nvSpPr>
            <p:cNvPr id="4" name="Code"/>
            <p:cNvSpPr/>
            <p:nvPr/>
          </p:nvSpPr>
          <p:spPr>
            <a:xfrm>
              <a:off x="483193" y="1690000"/>
              <a:ext cx="1926491" cy="14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45720" rIns="45720" bIns="45720">
              <a:noAutofit/>
            </a:bodyPr>
            <a:lstStyle/>
            <a:p>
              <a:r>
                <a:rPr lang="en-US" sz="2800" dirty="0">
                  <a:solidFill>
                    <a:srgbClr val="DCDCCC"/>
                  </a:solidFill>
                  <a:latin typeface="Consolas"/>
                </a:rPr>
                <a:t>I have a tuxedo cat.</a:t>
              </a:r>
            </a:p>
            <a:p>
              <a:r>
                <a:rPr lang="en-US" sz="2800" dirty="0">
                  <a:solidFill>
                    <a:srgbClr val="DCDCCC"/>
                  </a:solidFill>
                  <a:latin typeface="Consolas"/>
                </a:rPr>
                <a:t>His name is Felix.</a:t>
              </a:r>
            </a:p>
            <a:p>
              <a:r>
                <a:rPr lang="en-US" sz="2800" dirty="0">
                  <a:solidFill>
                    <a:srgbClr val="DCDCCC"/>
                  </a:solidFill>
                  <a:latin typeface="Consolas"/>
                </a:rPr>
                <a:t>Felix is 1 year old.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57900" y="1809300"/>
            <a:ext cx="4799428" cy="1891400"/>
            <a:chOff x="4872000" y="1690000"/>
            <a:chExt cx="3852982" cy="190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LineNumbers"/>
            <p:cNvSpPr/>
            <p:nvPr/>
          </p:nvSpPr>
          <p:spPr>
            <a:xfrm>
              <a:off x="4872000" y="1690000"/>
              <a:ext cx="183193" cy="19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45720" rIns="45720" bIns="45720">
              <a:noAutofit/>
            </a:bodyPr>
            <a:lstStyle/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858585"/>
                  </a:solidFill>
                  <a:latin typeface="Consolas"/>
                </a:rPr>
                <a:t>7</a:t>
              </a:r>
            </a:p>
          </p:txBody>
        </p:sp>
        <p:sp>
          <p:nvSpPr>
            <p:cNvPr id="6" name="Code"/>
            <p:cNvSpPr/>
            <p:nvPr/>
          </p:nvSpPr>
          <p:spPr>
            <a:xfrm>
              <a:off x="5055193" y="1690000"/>
              <a:ext cx="3669789" cy="1900000"/>
            </a:xfrm>
            <a:prstGeom prst="rect">
              <a:avLst/>
            </a:prstGeom>
            <a:solidFill>
              <a:srgbClr val="3F3F3F"/>
            </a:solidFill>
          </p:spPr>
          <p:txBody>
            <a:bodyPr wrap="square" lIns="45720" tIns="45720" rIns="45720" bIns="45720">
              <a:noAutofit/>
            </a:bodyPr>
            <a:lstStyle/>
            <a:p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&lt;?xml version="1.0" encoding="UTF-8" ?&gt;</a:t>
              </a:r>
            </a:p>
            <a:p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root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    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cat </a:t>
              </a:r>
              <a:r>
                <a:rPr lang="en-US" sz="1600" dirty="0">
                  <a:solidFill>
                    <a:srgbClr val="DFAF8F"/>
                  </a:solidFill>
                  <a:latin typeface="Consolas"/>
                </a:rPr>
                <a:t>coat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="</a:t>
              </a:r>
              <a:r>
                <a:rPr lang="en-US" sz="1600" dirty="0">
                  <a:solidFill>
                    <a:srgbClr val="DCA3A3"/>
                  </a:solidFill>
                  <a:latin typeface="Consolas"/>
                </a:rPr>
                <a:t>tuxedo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"&gt;</a:t>
              </a:r>
            </a:p>
            <a:p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name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Felix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name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        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age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1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age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r>
                <a:rPr lang="en-US" sz="1600" dirty="0">
                  <a:solidFill>
                    <a:srgbClr val="DCDCCC"/>
                  </a:solidFill>
                  <a:latin typeface="Consolas"/>
                </a:rPr>
                <a:t>    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cat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  <a:p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&lt;/</a:t>
              </a:r>
              <a:r>
                <a:rPr lang="en-US" sz="1600" dirty="0">
                  <a:solidFill>
                    <a:srgbClr val="93E0E3"/>
                  </a:solidFill>
                  <a:latin typeface="Consolas"/>
                </a:rPr>
                <a:t>root</a:t>
              </a:r>
              <a:r>
                <a:rPr lang="en-US" sz="1600" dirty="0">
                  <a:solidFill>
                    <a:srgbClr val="9F9F9F"/>
                  </a:solidFill>
                  <a:latin typeface="Consolas"/>
                </a:rPr>
                <a:t>&gt;</a:t>
              </a:r>
            </a:p>
          </p:txBody>
        </p:sp>
      </p:grpSp>
      <p:sp>
        <p:nvSpPr>
          <p:cNvPr id="11" name="Shape"/>
          <p:cNvSpPr/>
          <p:nvPr/>
        </p:nvSpPr>
        <p:spPr>
          <a:xfrm>
            <a:off x="990600" y="4114787"/>
            <a:ext cx="4495800" cy="16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FF00"/>
                </a:highlight>
              </a:rPr>
              <a:t>.txt</a:t>
            </a:r>
            <a:r>
              <a:rPr lang="en-US" sz="1800" b="1" dirty="0">
                <a:solidFill>
                  <a:schemeClr val="bg1"/>
                </a:solidFill>
              </a:rPr>
              <a:t> (Text File, 1961)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Simple, but unstructured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Great for </a:t>
            </a:r>
            <a:r>
              <a:rPr lang="en-US" sz="1800" b="1" dirty="0">
                <a:solidFill>
                  <a:schemeClr val="bg1"/>
                </a:solidFill>
              </a:rPr>
              <a:t>humans</a:t>
            </a:r>
            <a:r>
              <a:rPr lang="en-US" sz="1800" dirty="0">
                <a:solidFill>
                  <a:schemeClr val="bg1"/>
                </a:solidFill>
              </a:rPr>
              <a:t>, not great for software</a:t>
            </a:r>
          </a:p>
        </p:txBody>
      </p:sp>
      <p:sp>
        <p:nvSpPr>
          <p:cNvPr id="8" name="Shape"/>
          <p:cNvSpPr/>
          <p:nvPr/>
        </p:nvSpPr>
        <p:spPr>
          <a:xfrm>
            <a:off x="6057900" y="4115000"/>
            <a:ext cx="5143500" cy="1599787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sz="1800" b="1" dirty="0">
                <a:solidFill>
                  <a:schemeClr val="bg1"/>
                </a:solidFill>
                <a:highlight>
                  <a:srgbClr val="FFFF00"/>
                </a:highlight>
              </a:rPr>
              <a:t>.xml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eXtensible</a:t>
            </a:r>
            <a:r>
              <a:rPr lang="en-US" sz="1800" b="1" dirty="0">
                <a:solidFill>
                  <a:schemeClr val="bg1"/>
                </a:solidFill>
              </a:rPr>
              <a:t> Markup Language, 1998)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Not simple, but highly structured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Great for </a:t>
            </a:r>
            <a:r>
              <a:rPr lang="en-US" sz="1800" b="1" dirty="0">
                <a:solidFill>
                  <a:schemeClr val="bg1"/>
                </a:solidFill>
              </a:rPr>
              <a:t>software</a:t>
            </a:r>
            <a:r>
              <a:rPr lang="en-US" sz="1800" dirty="0">
                <a:solidFill>
                  <a:schemeClr val="bg1"/>
                </a:solidFill>
              </a:rPr>
              <a:t>, not great for humans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3200" b="1" dirty="0"/>
              <a:t>Standardization of OOXML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781800" cy="4351338"/>
          </a:xfr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.pptx</a:t>
            </a:r>
            <a:r>
              <a:rPr lang="en-US" sz="2200" dirty="0">
                <a:solidFill>
                  <a:schemeClr val="lt1"/>
                </a:solidFill>
              </a:rPr>
              <a:t>, </a:t>
            </a: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.docx</a:t>
            </a:r>
            <a:r>
              <a:rPr lang="en-US" sz="2200" dirty="0">
                <a:solidFill>
                  <a:schemeClr val="lt1"/>
                </a:solidFill>
              </a:rPr>
              <a:t>, and </a:t>
            </a: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.xlsx</a:t>
            </a:r>
            <a:r>
              <a:rPr lang="en-US" sz="2200" dirty="0">
                <a:solidFill>
                  <a:schemeClr val="lt1"/>
                </a:solidFill>
              </a:rPr>
              <a:t> are all compressed folders containing XML and media files, governed by </a:t>
            </a:r>
            <a:r>
              <a:rPr lang="en-US" sz="2200" b="1" dirty="0">
                <a:solidFill>
                  <a:schemeClr val="lt1"/>
                </a:solidFill>
              </a:rPr>
              <a:t>ISO/IEC 29500</a:t>
            </a:r>
            <a:r>
              <a:rPr lang="en-US" sz="2200" dirty="0">
                <a:solidFill>
                  <a:schemeClr val="lt1"/>
                </a:solidFill>
              </a:rPr>
              <a:t> and the Open Packaging Convention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lt1"/>
                </a:solidFill>
              </a:rPr>
              <a:t>Following publication of the standard in </a:t>
            </a:r>
            <a:r>
              <a:rPr lang="en-US" sz="2200" b="1" dirty="0">
                <a:solidFill>
                  <a:schemeClr val="lt1"/>
                </a:solidFill>
              </a:rPr>
              <a:t>2007</a:t>
            </a:r>
            <a:r>
              <a:rPr lang="en-US" sz="2200" dirty="0">
                <a:solidFill>
                  <a:schemeClr val="lt1"/>
                </a:solidFill>
              </a:rPr>
              <a:t>, Microsoft deprecated their proprietary </a:t>
            </a: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.ppt</a:t>
            </a:r>
            <a:r>
              <a:rPr lang="en-US" sz="2200" dirty="0">
                <a:solidFill>
                  <a:schemeClr val="lt1"/>
                </a:solidFill>
              </a:rPr>
              <a:t>, </a:t>
            </a: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.doc</a:t>
            </a:r>
            <a:r>
              <a:rPr lang="en-US" sz="2200" dirty="0">
                <a:solidFill>
                  <a:schemeClr val="lt1"/>
                </a:solidFill>
              </a:rPr>
              <a:t>, and </a:t>
            </a:r>
            <a:r>
              <a:rPr lang="en-US" sz="2200" b="1" dirty="0">
                <a:solidFill>
                  <a:schemeClr val="lt1"/>
                </a:solidFill>
                <a:highlight>
                  <a:srgbClr val="800080"/>
                </a:highlight>
              </a:rPr>
              <a:t>.</a:t>
            </a:r>
            <a:r>
              <a:rPr lang="en-US" sz="2200" b="1" dirty="0" err="1">
                <a:solidFill>
                  <a:schemeClr val="lt1"/>
                </a:solidFill>
                <a:highlight>
                  <a:srgbClr val="800080"/>
                </a:highlight>
              </a:rPr>
              <a:t>xls</a:t>
            </a:r>
            <a:r>
              <a:rPr lang="en-US" sz="2200" dirty="0">
                <a:solidFill>
                  <a:schemeClr val="lt1"/>
                </a:solidFill>
              </a:rPr>
              <a:t> </a:t>
            </a:r>
            <a:r>
              <a:rPr lang="en-US" sz="2200" b="1" dirty="0">
                <a:solidFill>
                  <a:schemeClr val="lt1"/>
                </a:solidFill>
              </a:rPr>
              <a:t>binary</a:t>
            </a:r>
            <a:r>
              <a:rPr lang="en-US" sz="2200" dirty="0">
                <a:solidFill>
                  <a:schemeClr val="lt1"/>
                </a:solidFill>
              </a:rPr>
              <a:t> formats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lt1"/>
                </a:solidFill>
              </a:rPr>
              <a:t>This opened the door for third-party developers to implement full Office document support without legal risk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6B2ADF-CE77-5C8B-F0A2-C33338B6E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416" y="1825624"/>
            <a:ext cx="1295400" cy="11929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lus Sign 5">
            <a:extLst>
              <a:ext uri="{FF2B5EF4-FFF2-40B4-BE49-F238E27FC236}">
                <a16:creationId xmlns:a16="http://schemas.microsoft.com/office/drawing/2014/main" id="{CA7F8F62-C296-C947-26BE-33021083C69D}"/>
              </a:ext>
            </a:extLst>
          </p:cNvPr>
          <p:cNvSpPr/>
          <p:nvPr/>
        </p:nvSpPr>
        <p:spPr>
          <a:xfrm>
            <a:off x="9575590" y="2136349"/>
            <a:ext cx="685800" cy="609600"/>
          </a:xfrm>
          <a:prstGeom prst="mathPlus">
            <a:avLst/>
          </a:prstGeom>
          <a:solidFill>
            <a:schemeClr val="bg2"/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461C389-B1C7-BCAE-CE49-BF1C48C9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164" y="1844674"/>
            <a:ext cx="1295400" cy="11929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6EA1A0-2692-974E-FFB9-7EF2542801D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67852" y="3338988"/>
            <a:ext cx="898312" cy="898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AE3038-1E7F-0CB5-E80E-701CAB1657AC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9096376" y="4538664"/>
            <a:ext cx="1638299" cy="1638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88937"/>
            <a:ext cx="10515600" cy="1325563"/>
          </a:xfrm>
        </p:spPr>
        <p:txBody>
          <a:bodyPr/>
          <a:lstStyle/>
          <a:p>
            <a:r>
              <a:rPr lang="en-US" dirty="0"/>
              <a:t>The Folder Tree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38200" y="2020918"/>
            <a:ext cx="8243499" cy="4081462"/>
            <a:chOff x="1447800" y="1661938"/>
            <a:chExt cx="8243499" cy="4081462"/>
          </a:xfrm>
        </p:grpSpPr>
        <p:sp>
          <p:nvSpPr>
            <p:cNvPr id="3" name="mermaid_ROOT"/>
            <p:cNvSpPr/>
            <p:nvPr/>
          </p:nvSpPr>
          <p:spPr>
            <a:xfrm>
              <a:off x="3855050" y="1661938"/>
              <a:ext cx="23899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presentation.pptx (root)</a:t>
              </a:r>
            </a:p>
          </p:txBody>
        </p:sp>
        <p:sp>
          <p:nvSpPr>
            <p:cNvPr id="13" name="mermaid_M1"/>
            <p:cNvSpPr/>
            <p:nvPr/>
          </p:nvSpPr>
          <p:spPr>
            <a:xfrm>
              <a:off x="4364200" y="5057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</a:rPr>
                <a:t>slideMaster1.xml</a:t>
              </a:r>
            </a:p>
          </p:txBody>
        </p:sp>
        <p:sp>
          <p:nvSpPr>
            <p:cNvPr id="14" name="mermaid_L1"/>
            <p:cNvSpPr/>
            <p:nvPr/>
          </p:nvSpPr>
          <p:spPr>
            <a:xfrm>
              <a:off x="5791200" y="5057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</a:rPr>
                <a:t>slideLayout1.xml</a:t>
              </a:r>
            </a:p>
          </p:txBody>
        </p:sp>
        <p:sp>
          <p:nvSpPr>
            <p:cNvPr id="10" name="mermaid_LAYOUTS"/>
            <p:cNvSpPr/>
            <p:nvPr/>
          </p:nvSpPr>
          <p:spPr>
            <a:xfrm>
              <a:off x="6161800" y="3914600"/>
              <a:ext cx="20020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</a:t>
              </a:r>
              <a:r>
                <a:rPr lang="en-US" dirty="0" err="1">
                  <a:solidFill>
                    <a:schemeClr val="dk1"/>
                  </a:solidFill>
                </a:rPr>
                <a:t>slideLayouts</a:t>
              </a:r>
              <a:r>
                <a:rPr lang="en-US" dirty="0">
                  <a:solidFill>
                    <a:schemeClr val="dk1"/>
                  </a:solidFill>
                </a:rPr>
                <a:t>/</a:t>
              </a:r>
            </a:p>
          </p:txBody>
        </p:sp>
        <p:sp>
          <p:nvSpPr>
            <p:cNvPr id="15" name="mermaid_L2"/>
            <p:cNvSpPr/>
            <p:nvPr/>
          </p:nvSpPr>
          <p:spPr>
            <a:xfrm>
              <a:off x="7239000" y="5057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 fontScale="92500"/>
            </a:bodyPr>
            <a:lstStyle/>
            <a:p>
              <a:pPr algn="ctr"/>
              <a:r>
                <a:rPr lang="en-US" sz="1300" dirty="0">
                  <a:solidFill>
                    <a:schemeClr val="dk1"/>
                  </a:solidFill>
                </a:rPr>
                <a:t>slideLayout2.xml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</a:rPr>
                <a:t>...</a:t>
              </a:r>
            </a:p>
          </p:txBody>
        </p:sp>
        <p:sp>
          <p:nvSpPr>
            <p:cNvPr id="4" name="mermaid_CT"/>
            <p:cNvSpPr/>
            <p:nvPr/>
          </p:nvSpPr>
          <p:spPr>
            <a:xfrm>
              <a:off x="1506050" y="2771600"/>
              <a:ext cx="240095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[Content_Types].xml</a:t>
              </a:r>
            </a:p>
          </p:txBody>
        </p:sp>
        <p:sp>
          <p:nvSpPr>
            <p:cNvPr id="7" name="mermaid_SLIDES"/>
            <p:cNvSpPr/>
            <p:nvPr/>
          </p:nvSpPr>
          <p:spPr>
            <a:xfrm>
              <a:off x="2174875" y="3914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slides/</a:t>
              </a:r>
            </a:p>
          </p:txBody>
        </p:sp>
        <p:sp>
          <p:nvSpPr>
            <p:cNvPr id="8" name="mermaid_MASTERS"/>
            <p:cNvSpPr/>
            <p:nvPr/>
          </p:nvSpPr>
          <p:spPr>
            <a:xfrm>
              <a:off x="4049000" y="3914600"/>
              <a:ext cx="20020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</a:t>
              </a:r>
              <a:r>
                <a:rPr lang="en-US" dirty="0" err="1">
                  <a:solidFill>
                    <a:schemeClr val="dk1"/>
                  </a:solidFill>
                </a:rPr>
                <a:t>slideMasters</a:t>
              </a:r>
              <a:r>
                <a:rPr lang="en-US" dirty="0">
                  <a:solidFill>
                    <a:schemeClr val="dk1"/>
                  </a:solidFill>
                </a:rPr>
                <a:t>/</a:t>
              </a:r>
            </a:p>
          </p:txBody>
        </p:sp>
        <p:sp>
          <p:nvSpPr>
            <p:cNvPr id="5" name="mermaid_PPT"/>
            <p:cNvSpPr/>
            <p:nvPr/>
          </p:nvSpPr>
          <p:spPr>
            <a:xfrm>
              <a:off x="4364200" y="2771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ppt/</a:t>
              </a:r>
            </a:p>
          </p:txBody>
        </p:sp>
        <p:sp>
          <p:nvSpPr>
            <p:cNvPr id="6" name="mermaid_RELS"/>
            <p:cNvSpPr/>
            <p:nvPr/>
          </p:nvSpPr>
          <p:spPr>
            <a:xfrm>
              <a:off x="6190400" y="2771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📁 _</a:t>
              </a:r>
              <a:r>
                <a:rPr lang="en-US" dirty="0" err="1">
                  <a:solidFill>
                    <a:schemeClr val="dk1"/>
                  </a:solidFill>
                </a:rPr>
                <a:t>rels</a:t>
              </a:r>
              <a:r>
                <a:rPr lang="en-US" dirty="0">
                  <a:solidFill>
                    <a:schemeClr val="dk1"/>
                  </a:solidFill>
                </a:rPr>
                <a:t>/</a:t>
              </a:r>
            </a:p>
          </p:txBody>
        </p:sp>
        <p:sp>
          <p:nvSpPr>
            <p:cNvPr id="11" name="mermaid_S1"/>
            <p:cNvSpPr/>
            <p:nvPr/>
          </p:nvSpPr>
          <p:spPr>
            <a:xfrm>
              <a:off x="1447800" y="5057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slide1.xml</a:t>
              </a:r>
            </a:p>
          </p:txBody>
        </p:sp>
        <p:sp>
          <p:nvSpPr>
            <p:cNvPr id="9" name="mermaid_R1"/>
            <p:cNvSpPr/>
            <p:nvPr/>
          </p:nvSpPr>
          <p:spPr>
            <a:xfrm>
              <a:off x="8319699" y="3914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.</a:t>
              </a:r>
              <a:r>
                <a:rPr lang="en-US" dirty="0" err="1">
                  <a:solidFill>
                    <a:schemeClr val="dk1"/>
                  </a:solidFill>
                </a:rPr>
                <a:t>rels</a:t>
              </a:r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12" name="mermaid_S2"/>
            <p:cNvSpPr/>
            <p:nvPr/>
          </p:nvSpPr>
          <p:spPr>
            <a:xfrm>
              <a:off x="2895600" y="50576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slide2.xml ...</a:t>
              </a:r>
            </a:p>
          </p:txBody>
        </p:sp>
        <p:cxnSp>
          <p:nvCxnSpPr>
            <p:cNvPr id="16" name="Connector 16"/>
            <p:cNvCxnSpPr>
              <a:cxnSpLocks/>
              <a:stCxn id="3" idx="2"/>
              <a:endCxn id="4" idx="0"/>
            </p:cNvCxnSpPr>
            <p:nvPr/>
          </p:nvCxnSpPr>
          <p:spPr>
            <a:xfrm flipH="1">
              <a:off x="2706525" y="2347738"/>
              <a:ext cx="2343475" cy="42386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7"/>
            <p:cNvCxnSpPr>
              <a:cxnSpLocks/>
              <a:stCxn id="3" idx="2"/>
              <a:endCxn id="6" idx="0"/>
            </p:cNvCxnSpPr>
            <p:nvPr/>
          </p:nvCxnSpPr>
          <p:spPr>
            <a:xfrm>
              <a:off x="5050000" y="2347738"/>
              <a:ext cx="1826200" cy="42386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8"/>
            <p:cNvCxnSpPr>
              <a:cxnSpLocks/>
              <a:stCxn id="3" idx="2"/>
              <a:endCxn id="5" idx="0"/>
            </p:cNvCxnSpPr>
            <p:nvPr/>
          </p:nvCxnSpPr>
          <p:spPr>
            <a:xfrm>
              <a:off x="5050000" y="2347738"/>
              <a:ext cx="0" cy="423862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9"/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2860675" y="3457400"/>
              <a:ext cx="2189325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20"/>
            <p:cNvCxnSpPr>
              <a:cxnSpLocks/>
              <a:stCxn id="5" idx="2"/>
              <a:endCxn id="10" idx="0"/>
            </p:cNvCxnSpPr>
            <p:nvPr/>
          </p:nvCxnSpPr>
          <p:spPr>
            <a:xfrm>
              <a:off x="5050000" y="3457400"/>
              <a:ext cx="2112800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1"/>
            <p:cNvCxnSpPr>
              <a:cxnSpLocks/>
              <a:stCxn id="5" idx="2"/>
              <a:endCxn id="8" idx="0"/>
            </p:cNvCxnSpPr>
            <p:nvPr/>
          </p:nvCxnSpPr>
          <p:spPr>
            <a:xfrm>
              <a:off x="5050000" y="3457400"/>
              <a:ext cx="0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2"/>
            <p:cNvCxnSpPr>
              <a:stCxn id="7" idx="2"/>
              <a:endCxn id="11" idx="0"/>
            </p:cNvCxnSpPr>
            <p:nvPr/>
          </p:nvCxnSpPr>
          <p:spPr>
            <a:xfrm flipH="1">
              <a:off x="2133600" y="4600400"/>
              <a:ext cx="727075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3"/>
            <p:cNvCxnSpPr>
              <a:stCxn id="7" idx="2"/>
              <a:endCxn id="12" idx="0"/>
            </p:cNvCxnSpPr>
            <p:nvPr/>
          </p:nvCxnSpPr>
          <p:spPr>
            <a:xfrm>
              <a:off x="2860675" y="4600400"/>
              <a:ext cx="720725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4"/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477000" y="4600400"/>
              <a:ext cx="685800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5"/>
            <p:cNvCxnSpPr>
              <a:cxnSpLocks/>
              <a:stCxn id="10" idx="2"/>
              <a:endCxn id="15" idx="0"/>
            </p:cNvCxnSpPr>
            <p:nvPr/>
          </p:nvCxnSpPr>
          <p:spPr>
            <a:xfrm>
              <a:off x="7162800" y="4600400"/>
              <a:ext cx="762000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6"/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5050000" y="4600400"/>
              <a:ext cx="0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7"/>
            <p:cNvCxnSpPr>
              <a:stCxn id="6" idx="2"/>
              <a:endCxn id="9" idx="0"/>
            </p:cNvCxnSpPr>
            <p:nvPr/>
          </p:nvCxnSpPr>
          <p:spPr>
            <a:xfrm>
              <a:off x="6876200" y="3457400"/>
              <a:ext cx="2129299" cy="45720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7057EBD-D5D8-05FB-FA59-7145BEE29F03}"/>
              </a:ext>
            </a:extLst>
          </p:cNvPr>
          <p:cNvSpPr txBox="1"/>
          <p:nvPr/>
        </p:nvSpPr>
        <p:spPr>
          <a:xfrm>
            <a:off x="7048572" y="614074"/>
            <a:ext cx="47581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slides/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directory contains a dedicated XML file for each slide in the deck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52D6C83-41C5-AAC2-3D4E-1A4C6554BAB1}"/>
              </a:ext>
            </a:extLst>
          </p:cNvPr>
          <p:cNvSpPr txBox="1"/>
          <p:nvPr/>
        </p:nvSpPr>
        <p:spPr>
          <a:xfrm>
            <a:off x="7048572" y="614074"/>
            <a:ext cx="4758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The </a:t>
            </a:r>
            <a:r>
              <a:rPr lang="en-US" sz="2000" b="1" dirty="0" err="1">
                <a:solidFill>
                  <a:schemeClr val="tx1"/>
                </a:solidFill>
                <a:latin typeface="+mn-lt"/>
              </a:rPr>
              <a:t>slideLayouts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/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directory is where all the theme’s layout XML files are stored, each describes document properties like placeholder geometry, and layout-specific fonts, spacing, and alignment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2AF13E2-023A-9715-B140-531BA5D92EC4}"/>
              </a:ext>
            </a:extLst>
          </p:cNvPr>
          <p:cNvSpPr txBox="1"/>
          <p:nvPr/>
        </p:nvSpPr>
        <p:spPr>
          <a:xfrm>
            <a:off x="7048572" y="614073"/>
            <a:ext cx="4758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The </a:t>
            </a:r>
            <a:r>
              <a:rPr lang="en-US" sz="2000" b="1" dirty="0" err="1">
                <a:solidFill>
                  <a:schemeClr val="tx1"/>
                </a:solidFill>
                <a:latin typeface="+mn-lt"/>
              </a:rPr>
              <a:t>slideMasters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/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directory contains XML files that define deck-wide defaults — background fills, color mappings, placeholder styles, and any shapes shared across all layouts that reference it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874E95F-6248-A9E8-AB9E-752BE4040558}"/>
              </a:ext>
            </a:extLst>
          </p:cNvPr>
          <p:cNvSpPr txBox="1"/>
          <p:nvPr/>
        </p:nvSpPr>
        <p:spPr>
          <a:xfrm>
            <a:off x="7048571" y="618920"/>
            <a:ext cx="4758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_</a:t>
            </a:r>
            <a:r>
              <a:rPr lang="en-US" sz="2000" b="1" dirty="0" err="1">
                <a:solidFill>
                  <a:schemeClr val="tx1"/>
                </a:solidFill>
                <a:latin typeface="+mn-lt"/>
              </a:rPr>
              <a:t>rels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/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directory holds relationship files that map how parts reference each other — every slide, layout, and master has a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2000" b="1" dirty="0" err="1">
                <a:solidFill>
                  <a:schemeClr val="tx1"/>
                </a:solidFill>
                <a:latin typeface="+mn-lt"/>
              </a:rPr>
              <a:t>rels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file declaring its links to images, charts, layouts, or masters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26936F7-3DA7-38F9-B8F7-8AED62BFEE9B}"/>
              </a:ext>
            </a:extLst>
          </p:cNvPr>
          <p:cNvSpPr txBox="1"/>
          <p:nvPr/>
        </p:nvSpPr>
        <p:spPr>
          <a:xfrm>
            <a:off x="7048570" y="609227"/>
            <a:ext cx="47581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+mn-lt"/>
              </a:rPr>
              <a:t>[Content_Types].xml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is the package manifest — it tells an application what type of file each part is, so it knows how to open and read them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5" animBg="1"/>
      <p:bldP spid="14" grpId="4" animBg="1"/>
      <p:bldP spid="10" grpId="4" animBg="1"/>
      <p:bldP spid="15" grpId="4" animBg="1"/>
      <p:bldP spid="4" grpId="7" animBg="1"/>
      <p:bldP spid="7" grpId="3" animBg="1"/>
      <p:bldP spid="8" grpId="5" animBg="1"/>
      <p:bldP spid="6" grpId="6" animBg="1"/>
      <p:bldP spid="11" grpId="3" animBg="1"/>
      <p:bldP spid="9" grpId="6" animBg="1"/>
      <p:bldP spid="12" grpId="3" animBg="1"/>
      <p:bldP spid="140" grpId="0"/>
      <p:bldP spid="140" grpId="1"/>
      <p:bldP spid="143" grpId="0"/>
      <p:bldP spid="143" grpId="1"/>
      <p:bldP spid="144" grpId="0"/>
      <p:bldP spid="144" grpId="1"/>
      <p:bldP spid="145" grpId="0"/>
      <p:bldP spid="145" grpId="1"/>
      <p:bldP spid="1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Relationships and Inheritance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657350" y="1846477"/>
            <a:ext cx="8877300" cy="3688280"/>
            <a:chOff x="528600" y="3014129"/>
            <a:chExt cx="5638800" cy="1640154"/>
          </a:xfrm>
        </p:grpSpPr>
        <p:sp>
          <p:nvSpPr>
            <p:cNvPr id="6" name="mermaid_S"/>
            <p:cNvSpPr/>
            <p:nvPr/>
          </p:nvSpPr>
          <p:spPr>
            <a:xfrm>
              <a:off x="4795800" y="34571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 lnSpcReduction="10000"/>
            </a:bodyPr>
            <a:lstStyle/>
            <a:p>
              <a:pPr algn="ctr"/>
              <a:r>
                <a:rPr lang="en-US" sz="1600" b="1" dirty="0">
                  <a:solidFill>
                    <a:schemeClr val="dk1"/>
                  </a:solidFill>
                </a:rPr>
                <a:t>slide1.xml</a:t>
              </a:r>
            </a:p>
            <a:p>
              <a:pPr algn="ctr"/>
              <a:endParaRPr lang="en-US" sz="1600" dirty="0">
                <a:solidFill>
                  <a:schemeClr val="dk1"/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dk1"/>
                  </a:solidFill>
                </a:rPr>
                <a:t>Inherits layout defaults</a:t>
              </a:r>
            </a:p>
            <a:p>
              <a:pPr algn="ctr"/>
              <a:r>
                <a:rPr lang="en-US" sz="1600" dirty="0">
                  <a:solidFill>
                    <a:schemeClr val="dk1"/>
                  </a:solidFill>
                </a:rPr>
                <a:t>Only stores geometry</a:t>
              </a:r>
            </a:p>
            <a:p>
              <a:pPr algn="ctr"/>
              <a:r>
                <a:rPr lang="en-US" sz="1600" dirty="0">
                  <a:solidFill>
                    <a:schemeClr val="dk1"/>
                  </a:solidFill>
                </a:rPr>
                <a:t>or style if it differs</a:t>
              </a:r>
            </a:p>
          </p:txBody>
        </p:sp>
        <p:sp>
          <p:nvSpPr>
            <p:cNvPr id="4" name="mermaid_SL2"/>
            <p:cNvSpPr/>
            <p:nvPr/>
          </p:nvSpPr>
          <p:spPr>
            <a:xfrm>
              <a:off x="2662200" y="3014129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 fontScale="92500" lnSpcReduction="10000"/>
            </a:bodyPr>
            <a:lstStyle/>
            <a:p>
              <a:pPr algn="ctr"/>
              <a:r>
                <a:rPr lang="en-US" b="1" dirty="0">
                  <a:solidFill>
                    <a:schemeClr val="dk1"/>
                  </a:solidFill>
                </a:rPr>
                <a:t>slideLayout2.xml</a:t>
              </a:r>
              <a:br>
                <a:rPr lang="en-US" dirty="0">
                  <a:solidFill>
                    <a:schemeClr val="dk1"/>
                  </a:solidFill>
                </a:rPr>
              </a:br>
              <a:br>
                <a:rPr lang="en-US" dirty="0">
                  <a:solidFill>
                    <a:schemeClr val="dk1"/>
                  </a:solidFill>
                </a:rPr>
              </a:br>
              <a:r>
                <a:rPr lang="en-US" dirty="0">
                  <a:solidFill>
                    <a:schemeClr val="dk1"/>
                  </a:solidFill>
                </a:rPr>
                <a:t>Inherits master defaults</a:t>
              </a:r>
              <a:br>
                <a:rPr lang="en-US" dirty="0">
                  <a:solidFill>
                    <a:schemeClr val="dk1"/>
                  </a:solidFill>
                </a:rPr>
              </a:br>
              <a:r>
                <a:rPr lang="en-US" dirty="0">
                  <a:solidFill>
                    <a:schemeClr val="dk1"/>
                  </a:solidFill>
                </a:rPr>
                <a:t>Overrides: as needed</a:t>
              </a:r>
            </a:p>
          </p:txBody>
        </p:sp>
        <p:sp>
          <p:nvSpPr>
            <p:cNvPr id="5" name="mermaid_SL"/>
            <p:cNvSpPr/>
            <p:nvPr/>
          </p:nvSpPr>
          <p:spPr>
            <a:xfrm>
              <a:off x="2662200" y="3968483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 fontScale="92500" lnSpcReduction="10000"/>
            </a:bodyPr>
            <a:lstStyle/>
            <a:p>
              <a:pPr algn="ctr"/>
              <a:r>
                <a:rPr lang="en-US" sz="1600" b="1" dirty="0">
                  <a:solidFill>
                    <a:schemeClr val="dk1"/>
                  </a:solidFill>
                </a:rPr>
                <a:t>slideLayout1.xml</a:t>
              </a:r>
              <a:br>
                <a:rPr lang="en-US" sz="1600" dirty="0">
                  <a:solidFill>
                    <a:schemeClr val="dk1"/>
                  </a:solidFill>
                </a:rPr>
              </a:br>
              <a:br>
                <a:rPr lang="en-US" sz="1600" dirty="0">
                  <a:solidFill>
                    <a:schemeClr val="dk1"/>
                  </a:solidFill>
                </a:rPr>
              </a:br>
              <a:r>
                <a:rPr lang="en-US" sz="1600" dirty="0">
                  <a:solidFill>
                    <a:schemeClr val="dk1"/>
                  </a:solidFill>
                </a:rPr>
                <a:t>Inherits master defaults</a:t>
              </a:r>
              <a:br>
                <a:rPr lang="en-US" sz="1600" dirty="0">
                  <a:solidFill>
                    <a:schemeClr val="dk1"/>
                  </a:solidFill>
                </a:rPr>
              </a:br>
              <a:r>
                <a:rPr lang="en-US" sz="1600" dirty="0">
                  <a:solidFill>
                    <a:schemeClr val="dk1"/>
                  </a:solidFill>
                </a:rPr>
                <a:t>Overrides: layout-specific placeholder positions</a:t>
              </a:r>
            </a:p>
          </p:txBody>
        </p:sp>
        <p:sp>
          <p:nvSpPr>
            <p:cNvPr id="3" name="mermaid_SM"/>
            <p:cNvSpPr/>
            <p:nvPr/>
          </p:nvSpPr>
          <p:spPr>
            <a:xfrm>
              <a:off x="528600" y="3457100"/>
              <a:ext cx="1371600" cy="685800"/>
            </a:xfrm>
            <a:prstGeom prst="rect">
              <a:avLst/>
            </a:prstGeom>
            <a:solidFill>
              <a:schemeClr val="lt1"/>
            </a:solidFill>
          </p:spPr>
          <p:txBody>
            <a:bodyPr anchor="ctr">
              <a:normAutofit fontScale="92500" lnSpcReduction="10000"/>
            </a:bodyPr>
            <a:lstStyle/>
            <a:p>
              <a:pPr algn="ctr"/>
              <a:r>
                <a:rPr lang="en-US" b="1" dirty="0">
                  <a:solidFill>
                    <a:schemeClr val="dk1"/>
                  </a:solidFill>
                </a:rPr>
                <a:t>slideMaster1.xml</a:t>
              </a:r>
              <a:br>
                <a:rPr lang="en-US" dirty="0">
                  <a:solidFill>
                    <a:schemeClr val="dk1"/>
                  </a:solidFill>
                </a:rPr>
              </a:br>
              <a:endParaRPr lang="en-US" dirty="0">
                <a:solidFill>
                  <a:schemeClr val="dk1"/>
                </a:solidFill>
              </a:endParaRPr>
            </a:p>
            <a:p>
              <a:pPr algn="ctr"/>
              <a:r>
                <a:rPr lang="en-US" dirty="0">
                  <a:solidFill>
                    <a:schemeClr val="dk1"/>
                  </a:solidFill>
                </a:rPr>
                <a:t>Defines: fonts, colors,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</a:rPr>
                <a:t>base placeholder geometry</a:t>
              </a:r>
            </a:p>
          </p:txBody>
        </p:sp>
        <p:cxnSp>
          <p:nvCxnSpPr>
            <p:cNvPr id="10" name="Connector 10"/>
            <p:cNvCxnSpPr>
              <a:cxnSpLocks/>
              <a:stCxn id="3" idx="3"/>
              <a:endCxn id="5" idx="1"/>
            </p:cNvCxnSpPr>
            <p:nvPr/>
          </p:nvCxnSpPr>
          <p:spPr>
            <a:xfrm>
              <a:off x="1900200" y="3800000"/>
              <a:ext cx="762000" cy="5113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1"/>
            <p:cNvCxnSpPr>
              <a:cxnSpLocks/>
              <a:stCxn id="3" idx="3"/>
              <a:endCxn id="4" idx="1"/>
            </p:cNvCxnSpPr>
            <p:nvPr/>
          </p:nvCxnSpPr>
          <p:spPr>
            <a:xfrm flipV="1">
              <a:off x="1900200" y="3357029"/>
              <a:ext cx="762000" cy="4429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2"/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4033800" y="3800000"/>
              <a:ext cx="762001" cy="5113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mermaid_label_SM_SL2"/>
          <p:cNvSpPr/>
          <p:nvPr/>
        </p:nvSpPr>
        <p:spPr>
          <a:xfrm rot="19187912">
            <a:off x="3821099" y="2780754"/>
            <a:ext cx="1071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dirty="0">
                <a:solidFill>
                  <a:schemeClr val="lt1"/>
                </a:solidFill>
              </a:rPr>
              <a:t>inherits</a:t>
            </a:r>
          </a:p>
        </p:txBody>
      </p:sp>
      <p:sp>
        <p:nvSpPr>
          <p:cNvPr id="56" name="mermaid_label_SM_SL2">
            <a:extLst>
              <a:ext uri="{FF2B5EF4-FFF2-40B4-BE49-F238E27FC236}">
                <a16:creationId xmlns:a16="http://schemas.microsoft.com/office/drawing/2014/main" id="{8F369507-CE2B-24C1-DEDE-ADC91C136ECA}"/>
              </a:ext>
            </a:extLst>
          </p:cNvPr>
          <p:cNvSpPr/>
          <p:nvPr/>
        </p:nvSpPr>
        <p:spPr>
          <a:xfrm rot="2552417" flipH="1">
            <a:off x="3821097" y="4184432"/>
            <a:ext cx="1071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dirty="0">
                <a:solidFill>
                  <a:schemeClr val="lt1"/>
                </a:solidFill>
              </a:rPr>
              <a:t>inherits</a:t>
            </a:r>
          </a:p>
        </p:txBody>
      </p:sp>
      <p:sp>
        <p:nvSpPr>
          <p:cNvPr id="57" name="mermaid_label_SM_SL2">
            <a:extLst>
              <a:ext uri="{FF2B5EF4-FFF2-40B4-BE49-F238E27FC236}">
                <a16:creationId xmlns:a16="http://schemas.microsoft.com/office/drawing/2014/main" id="{A2D01DE2-4EAB-484E-EE18-EA84952AD5D0}"/>
              </a:ext>
            </a:extLst>
          </p:cNvPr>
          <p:cNvSpPr/>
          <p:nvPr/>
        </p:nvSpPr>
        <p:spPr>
          <a:xfrm rot="19015431">
            <a:off x="7148340" y="3879241"/>
            <a:ext cx="10716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800" dirty="0">
                <a:solidFill>
                  <a:schemeClr val="lt1"/>
                </a:solidFill>
              </a:rPr>
              <a:t>inherits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427C31-EF7E-8ED9-DCA6-D0C3BE685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5137"/>
            <a:ext cx="3857625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It Matters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838200" y="1690688"/>
            <a:ext cx="6248400" cy="4351338"/>
          </a:xfrm>
        </p:spPr>
        <p:txBody>
          <a:bodyPr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lt1"/>
                </a:solidFill>
              </a:rPr>
              <a:t>Because it's just XML in a ZIP, the format is fully programmable!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lt1"/>
                </a:solidFill>
              </a:rPr>
              <a:t>Tools read, write, edit, and delete presentation elements in memory at the structural level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lt1"/>
                </a:solidFill>
              </a:rPr>
              <a:t>When saving, an application must build the folders, write the XML files, and perform ZIP compression on the root directory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lt1"/>
                </a:solidFill>
              </a:rPr>
              <a:t>Thanks to this clever engineering, OOXML document file formats take up their full space only when actively viewed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l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4D883-2143-8070-FF7F-8F748BE66E3E}"/>
              </a:ext>
            </a:extLst>
          </p:cNvPr>
          <p:cNvSpPr/>
          <p:nvPr/>
        </p:nvSpPr>
        <p:spPr>
          <a:xfrm>
            <a:off x="8153400" y="-76200"/>
            <a:ext cx="4191000" cy="70104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Excudo">
  <a:themeElements>
    <a:clrScheme name="Excudo">
      <a:dk1>
        <a:srgbClr val="0D1117"/>
      </a:dk1>
      <a:lt1>
        <a:srgbClr val="E6EDF3"/>
      </a:lt1>
      <a:dk2>
        <a:srgbClr val="161B22"/>
      </a:dk2>
      <a:lt2>
        <a:srgbClr val="8B949E"/>
      </a:lt2>
      <a:accent1>
        <a:srgbClr val="58A6FF"/>
      </a:accent1>
      <a:accent2>
        <a:srgbClr val="F0883E"/>
      </a:accent2>
      <a:accent3>
        <a:srgbClr val="3FB950"/>
      </a:accent3>
      <a:accent4>
        <a:srgbClr val="BC8CFF"/>
      </a:accent4>
      <a:accent5>
        <a:srgbClr val="79C0FF"/>
      </a:accent5>
      <a:accent6>
        <a:srgbClr val="D2A8FF"/>
      </a:accent6>
      <a:hlink>
        <a:srgbClr val="58A6FF"/>
      </a:hlink>
      <a:folHlink>
        <a:srgbClr val="BC8CFF"/>
      </a:folHlink>
    </a:clrScheme>
    <a:fontScheme name="Excudo">
      <a:majorFont>
        <a:latin typeface="Segoe UI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747</Words>
  <Application>Microsoft Office PowerPoint</Application>
  <PresentationFormat>Widescreen</PresentationFormat>
  <Paragraphs>117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Consolas</vt:lpstr>
      <vt:lpstr>Segoe UI</vt:lpstr>
      <vt:lpstr>Wingdings</vt:lpstr>
      <vt:lpstr>Excudo</vt:lpstr>
      <vt:lpstr>The Anatomy of a PowerPoint File</vt:lpstr>
      <vt:lpstr>What's Inside?</vt:lpstr>
      <vt:lpstr>Textual Data and XML</vt:lpstr>
      <vt:lpstr>Standardization of OOXML</vt:lpstr>
      <vt:lpstr>The Folder Tree</vt:lpstr>
      <vt:lpstr>Relationships and Inheritance</vt:lpstr>
      <vt:lpstr>Why It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creator>Excudo</dc:creator>
  <cp:lastModifiedBy>Dylan Connolly</cp:lastModifiedBy>
  <cp:revision>5</cp:revision>
  <dcterms:created xsi:type="dcterms:W3CDTF">2026-03-21T01:36:03Z</dcterms:created>
  <dcterms:modified xsi:type="dcterms:W3CDTF">2026-03-21T04:45:16Z</dcterms:modified>
</cp:coreProperties>
</file>